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4-10.svg" ContentType="image/svg+xml"/>
  <Override PartName="/ppt/media/image-4-2.svg" ContentType="image/svg+xml"/>
  <Override PartName="/ppt/media/image-4-4.svg" ContentType="image/svg+xml"/>
  <Override PartName="/ppt/media/image-4-6.svg" ContentType="image/svg+xml"/>
  <Override PartName="/ppt/media/image-4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notesMasterIdLst>
    <p:notesMasterId r:id="rId12"/>
  </p:notesMasterIdLst>
  <p:sldSz cx="12191695" cy="6858000"/>
  <p:notesSz cx="6858000" cy="12191695"/>
  <p:embeddedFontLst>
    <p:embeddedFont>
      <p:font typeface="Funnel Sans Bold"/>
      <p:regular r:id="rId201314"/>
    </p:embeddedFont>
    <p:embeddedFont>
      <p:font typeface="Funnel Sans"/>
      <p:regular r:id="rId201315"/>
    </p:embeddedFont>
    <p:embeddedFont>
      <p:font typeface="Nanum Myeongjo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2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520">
              <a:alpha val="55000"/>
            </a:srgbClr>
          </a:solidFill>
          <a:ln/>
        </p:spPr>
      </p:sp>
      <p:pic>
        <p:nvPicPr>
          <p:cNvPr id="4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3780492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INDUSTRIAL TRAINING • HIGHER DIPLOMA IN SOFTWARE ENGINEERING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3994769"/>
            <a:ext cx="11277318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7400" b="1" dirty="0">
                <a:solidFill>
                  <a:srgbClr val="FFFFF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KNW PRO</a:t>
            </a:r>
            <a:endParaRPr lang="en-US" sz="74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7400" b="1" dirty="0">
                <a:solidFill>
                  <a:srgbClr val="FFFFF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Realtor</a:t>
            </a:r>
            <a:endParaRPr lang="en-US" sz="7400" dirty="0"/>
          </a:p>
        </p:txBody>
      </p:sp>
      <p:sp>
        <p:nvSpPr>
          <p:cNvPr id="4" name="Text 2"/>
          <p:cNvSpPr/>
          <p:nvPr/>
        </p:nvSpPr>
        <p:spPr>
          <a:xfrm>
            <a:off x="457189" y="6103977"/>
            <a:ext cx="11734506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Design and implementation of a property trading and legal advisory platform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148020"/>
            <a:ext cx="6192385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CONTEXT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323380"/>
            <a:ext cx="5735196" cy="2102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From fragmented property deals to one trusted platform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189" y="3688358"/>
            <a:ext cx="5735196" cy="1581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Connect buyers, sellers, brokers, administrators, and registered legal practitioners.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Reduce manual coordination, opaque listings, and unverified property documents.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Training context: KNW PRO Realtor (Pvt) Ltd, IT &amp; Digital Systems Department, Colombo.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6663" y="0"/>
            <a:ext cx="5085032" cy="6400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339711"/>
            <a:ext cx="6387940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AIM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515070"/>
            <a:ext cx="5930752" cy="2803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The project aims to make property transactions safer and simpler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189" y="4585474"/>
            <a:ext cx="5930752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Digitize property discovery, seller onboarding, legal review, and buyer engagement.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2317" y="0"/>
            <a:ext cx="4889378" cy="6400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028263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PROJECT SCOPE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203623"/>
            <a:ext cx="11277318" cy="700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Scope: a complete property journey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57189" y="3848001"/>
            <a:ext cx="11277318" cy="1905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5" name="Shape 3"/>
          <p:cNvSpPr/>
          <p:nvPr/>
        </p:nvSpPr>
        <p:spPr>
          <a:xfrm>
            <a:off x="2253102" y="3314601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6" name="Shape 4"/>
          <p:cNvSpPr/>
          <p:nvPr/>
        </p:nvSpPr>
        <p:spPr>
          <a:xfrm>
            <a:off x="2062607" y="3647976"/>
            <a:ext cx="400040" cy="400050"/>
          </a:xfrm>
          <a:prstGeom prst="roundRect">
            <a:avLst>
              <a:gd name="adj" fmla="val 6667"/>
            </a:avLst>
          </a:prstGeom>
          <a:solidFill>
            <a:srgbClr val="EEEAE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9280" y="3714601"/>
            <a:ext cx="266693" cy="2667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4984" y="2057003"/>
            <a:ext cx="3255286" cy="22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7000"/>
              </a:lnSpc>
              <a:buNone/>
            </a:pPr>
            <a:r>
              <a:rPr lang="en-US" sz="17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Register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34984" y="2390279"/>
            <a:ext cx="325528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Register and authenticate users.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169663" y="3848001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11" name="Shape 8"/>
          <p:cNvSpPr/>
          <p:nvPr/>
        </p:nvSpPr>
        <p:spPr>
          <a:xfrm>
            <a:off x="3979168" y="3647976"/>
            <a:ext cx="400040" cy="400050"/>
          </a:xfrm>
          <a:prstGeom prst="roundRect">
            <a:avLst>
              <a:gd name="adj" fmla="val 6667"/>
            </a:avLst>
          </a:prstGeom>
          <a:solidFill>
            <a:srgbClr val="EEEAE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45841" y="3714601"/>
            <a:ext cx="266693" cy="2667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51495" y="4559201"/>
            <a:ext cx="3255385" cy="22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7000"/>
              </a:lnSpc>
              <a:buNone/>
            </a:pPr>
            <a:r>
              <a:rPr lang="en-US" sz="17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Discover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2551545" y="4892477"/>
            <a:ext cx="325538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Search, filter, shortlist, and review property dossiers.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6224" y="3314601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16" name="Shape 12"/>
          <p:cNvSpPr/>
          <p:nvPr/>
        </p:nvSpPr>
        <p:spPr>
          <a:xfrm>
            <a:off x="5895728" y="3647976"/>
            <a:ext cx="400040" cy="400050"/>
          </a:xfrm>
          <a:prstGeom prst="roundRect">
            <a:avLst>
              <a:gd name="adj" fmla="val 6667"/>
            </a:avLst>
          </a:prstGeom>
          <a:solidFill>
            <a:srgbClr val="EEEAE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62402" y="3714601"/>
            <a:ext cx="266693" cy="2667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68056" y="2057003"/>
            <a:ext cx="3255385" cy="22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7000"/>
              </a:lnSpc>
              <a:buNone/>
            </a:pPr>
            <a:r>
              <a:rPr lang="en-US" sz="17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Prepare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4468105" y="2390279"/>
            <a:ext cx="3255385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Apply to sell, submit property details, upload documents, and choose listing plans.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002883" y="3848001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21" name="Shape 16"/>
          <p:cNvSpPr/>
          <p:nvPr/>
        </p:nvSpPr>
        <p:spPr>
          <a:xfrm>
            <a:off x="7812388" y="3647976"/>
            <a:ext cx="400040" cy="400050"/>
          </a:xfrm>
          <a:prstGeom prst="roundRect">
            <a:avLst>
              <a:gd name="adj" fmla="val 6667"/>
            </a:avLst>
          </a:prstGeom>
          <a:solidFill>
            <a:srgbClr val="EEEAE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79061" y="3714601"/>
            <a:ext cx="266693" cy="2667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84765" y="4559201"/>
            <a:ext cx="3255286" cy="22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7000"/>
              </a:lnSpc>
              <a:buNone/>
            </a:pPr>
            <a:r>
              <a:rPr lang="en-US" sz="17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Connect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6384765" y="4892477"/>
            <a:ext cx="3255286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Book site inspections or legal consultations.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9919444" y="3314601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4D0C8"/>
          </a:solidFill>
          <a:ln/>
        </p:spPr>
      </p:sp>
      <p:sp>
        <p:nvSpPr>
          <p:cNvPr id="26" name="Shape 20"/>
          <p:cNvSpPr/>
          <p:nvPr/>
        </p:nvSpPr>
        <p:spPr>
          <a:xfrm>
            <a:off x="9728949" y="3647976"/>
            <a:ext cx="400040" cy="400050"/>
          </a:xfrm>
          <a:prstGeom prst="roundRect">
            <a:avLst>
              <a:gd name="adj" fmla="val 6667"/>
            </a:avLst>
          </a:prstGeom>
          <a:solidFill>
            <a:srgbClr val="EEEAE2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5622" y="3714601"/>
            <a:ext cx="266693" cy="2667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301276" y="2057003"/>
            <a:ext cx="3255385" cy="22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7000"/>
              </a:lnSpc>
              <a:buNone/>
            </a:pPr>
            <a:r>
              <a:rPr lang="en-US" sz="17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Govern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8301326" y="2390279"/>
            <a:ext cx="325538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Review, verify, publish, and monitor activity through administration.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31" name="Text 24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720884"/>
            <a:ext cx="6583595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BOUNDARIES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896243"/>
            <a:ext cx="6126406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Out of scope for this training project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189" y="2480449"/>
            <a:ext cx="658359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These remain professional, regulatory, or future-extension concerns.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189" y="3027935"/>
            <a:ext cx="612640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Professional judgment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189" y="3420170"/>
            <a:ext cx="6126406" cy="542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Replacing licensed attorneys or issuing final legal opinions.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Automated legal validity decisions without human review.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189" y="4265391"/>
            <a:ext cx="612640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Regulatory execution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189" y="4657626"/>
            <a:ext cx="6126406" cy="1039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Property ownership transfer, land registry execution, or payment settlement.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Full native mobile apps, OCR identity extraction, and real-time WebSocket messaging.</a:t>
            </a:r>
            <a:endParaRPr 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7873" y="0"/>
            <a:ext cx="4693822" cy="6400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793313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STAKEHOLDERS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968673"/>
            <a:ext cx="11277318" cy="700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One platform, four stakeholder views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89" y="1828403"/>
            <a:ext cx="10413739" cy="37967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690225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FUNCTIONAL REQUIREMENTS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865584"/>
            <a:ext cx="11277318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Functional requirements follow the real user journey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389" y="2426295"/>
            <a:ext cx="7656916" cy="33019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84534" y="2832912"/>
            <a:ext cx="4210744" cy="182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Account Creation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784534" y="3598608"/>
            <a:ext cx="4210744" cy="182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Role &amp; Workspace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2784534" y="4356647"/>
            <a:ext cx="4210744" cy="182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Listing Intake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784534" y="5114686"/>
            <a:ext cx="4210744" cy="182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Search &amp; Verify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830620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QUALITY ATTRIBUTES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005979"/>
            <a:ext cx="11277318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Non-functional requirements protect trust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57189" y="2585740"/>
            <a:ext cx="5486263" cy="1348581"/>
          </a:xfrm>
          <a:prstGeom prst="roundRect">
            <a:avLst>
              <a:gd name="adj" fmla="val 1978"/>
            </a:avLst>
          </a:prstGeom>
          <a:solidFill>
            <a:srgbClr val="EEEAE2"/>
          </a:solidFill>
          <a:ln/>
        </p:spPr>
      </p:sp>
      <p:sp>
        <p:nvSpPr>
          <p:cNvPr id="5" name="Text 3"/>
          <p:cNvSpPr/>
          <p:nvPr/>
        </p:nvSpPr>
        <p:spPr>
          <a:xfrm>
            <a:off x="685783" y="2815805"/>
            <a:ext cx="502907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Security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783" y="3212485"/>
            <a:ext cx="50290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Bcrypt password hashing, private identity-document storage, and permission gates.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2585740"/>
            <a:ext cx="5486263" cy="1348581"/>
          </a:xfrm>
          <a:prstGeom prst="roundRect">
            <a:avLst>
              <a:gd name="adj" fmla="val 1978"/>
            </a:avLst>
          </a:prstGeom>
          <a:solidFill>
            <a:srgbClr val="EEEAE2"/>
          </a:solidFill>
          <a:ln/>
        </p:spPr>
      </p:sp>
      <p:sp>
        <p:nvSpPr>
          <p:cNvPr id="8" name="Text 6"/>
          <p:cNvSpPr/>
          <p:nvPr/>
        </p:nvSpPr>
        <p:spPr>
          <a:xfrm>
            <a:off x="6476838" y="2815805"/>
            <a:ext cx="502907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Maintainability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76838" y="3212485"/>
            <a:ext cx="50290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Decoupled frontend and backend, MVC organization, REST APIs, and migrations.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189" y="4239121"/>
            <a:ext cx="5486263" cy="1348581"/>
          </a:xfrm>
          <a:prstGeom prst="roundRect">
            <a:avLst>
              <a:gd name="adj" fmla="val 1978"/>
            </a:avLst>
          </a:prstGeom>
          <a:solidFill>
            <a:srgbClr val="EEEAE2"/>
          </a:solidFill>
          <a:ln/>
        </p:spPr>
      </p:sp>
      <p:sp>
        <p:nvSpPr>
          <p:cNvPr id="11" name="Text 9"/>
          <p:cNvSpPr/>
          <p:nvPr/>
        </p:nvSpPr>
        <p:spPr>
          <a:xfrm>
            <a:off x="685783" y="4469187"/>
            <a:ext cx="502907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Usability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5783" y="4865866"/>
            <a:ext cx="50290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Responsive layouts, reactive state, multilingual and multi-currency support.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8244" y="4239121"/>
            <a:ext cx="5486263" cy="1348581"/>
          </a:xfrm>
          <a:prstGeom prst="roundRect">
            <a:avLst>
              <a:gd name="adj" fmla="val 1978"/>
            </a:avLst>
          </a:prstGeom>
          <a:solidFill>
            <a:srgbClr val="EEEAE2"/>
          </a:solidFill>
          <a:ln/>
        </p:spPr>
      </p:sp>
      <p:sp>
        <p:nvSpPr>
          <p:cNvPr id="14" name="Text 12"/>
          <p:cNvSpPr/>
          <p:nvPr/>
        </p:nvSpPr>
        <p:spPr>
          <a:xfrm>
            <a:off x="6476838" y="4469187"/>
            <a:ext cx="502907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2000" b="1" dirty="0">
                <a:solidFill>
                  <a:srgbClr val="6B5D4F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Performance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76838" y="4865866"/>
            <a:ext cx="502907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Indexed property searches and independently scalable client/server tiers.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753626"/>
            <a:ext cx="11734506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TECHNICAL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928985"/>
            <a:ext cx="11277318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Decoupled architecture keeps responsibilities clear</a:t>
            </a:r>
            <a:endParaRPr lang="en-US" sz="4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89" y="2489696"/>
            <a:ext cx="9524762" cy="317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400800"/>
            <a:ext cx="12191695" cy="9525"/>
          </a:xfrm>
          <a:prstGeom prst="rect">
            <a:avLst/>
          </a:prstGeom>
          <a:solidFill>
            <a:srgbClr val="6B5D4F">
              <a:alpha val="2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77895" y="6542286"/>
            <a:ext cx="1608296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KNW PRO Realtor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945440" y="6542286"/>
            <a:ext cx="24625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667629"/>
            <a:ext cx="6974705" cy="1199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5000"/>
              </a:lnSpc>
              <a:buNone/>
            </a:pPr>
            <a:r>
              <a:rPr lang="en-US" sz="1050" spc="84" kern="100" dirty="0">
                <a:solidFill>
                  <a:srgbClr val="7D6E6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IDENTITY WORKFLOW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842988"/>
            <a:ext cx="6517517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4800" b="1" dirty="0">
                <a:solidFill>
                  <a:srgbClr val="2A2520"/>
                </a:solidFill>
                <a:latin typeface="Nanum Myeongjo Bold" pitchFamily="34" charset="0"/>
                <a:ea typeface="Nanum Myeongjo Bold" pitchFamily="34" charset="-122"/>
                <a:cs typeface="Nanum Myeongjo Bold" pitchFamily="34" charset="-120"/>
              </a:rPr>
              <a:t>Role switching removes a costly account barrier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189" y="3422749"/>
            <a:ext cx="6517517" cy="1377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user starts with buyer access.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user submits seller details and NIC documents.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Administration reviews the application.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Approved users switch between Buyer Mode, Seller Mode, and Lawyer Mode from one account.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189" y="4963497"/>
            <a:ext cx="69747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6B5D4F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Separate accounts become one unified identity.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8983" y="0"/>
            <a:ext cx="430271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REQUIREMENTS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Detailed Functional Requirements by Stakeholder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3347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2359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A2520"/>
                </a:solidFill>
                <a:latin typeface="Arial"/>
              </a:defRPr>
            </a:pPr>
            <a:r>
              <a:t>Property Buyer</a:t>
            </a:r>
          </a:p>
          <a:p>
            <a:pPr>
              <a:defRPr sz="1050" b="1">
                <a:solidFill>
                  <a:srgbClr val="2563EB"/>
                </a:solidFill>
                <a:latin typeface="Arial"/>
              </a:defRPr>
            </a:pPr>
            <a:r>
              <a:t>• FR-B1 Property Discovery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District, property type &amp; price filtering with instant search index.</a:t>
            </a:r>
          </a:p>
          <a:p>
            <a:pPr>
              <a:defRPr sz="1050" b="1">
                <a:solidFill>
                  <a:srgbClr val="2563EB"/>
                </a:solidFill>
                <a:latin typeface="Arial"/>
              </a:defRPr>
            </a:pPr>
            <a:r>
              <a:t>• FR-B2 Deed Verification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Check 'KNW Certified Deed Verified' badge and legal summary dossier.</a:t>
            </a:r>
          </a:p>
          <a:p>
            <a:pPr>
              <a:defRPr sz="1050" b="1">
                <a:solidFill>
                  <a:srgbClr val="2563EB"/>
                </a:solidFill>
                <a:latin typeface="Arial"/>
              </a:defRPr>
            </a:pPr>
            <a:r>
              <a:t>• FR-B3 Financial Tools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Mortgage amortization &amp; stamp duty payment calculations.</a:t>
            </a:r>
          </a:p>
          <a:p>
            <a:pPr>
              <a:defRPr sz="1050" b="1">
                <a:solidFill>
                  <a:srgbClr val="2563EB"/>
                </a:solidFill>
                <a:latin typeface="Arial"/>
              </a:defRPr>
            </a:pPr>
            <a:r>
              <a:t>• FR-B4 Physical Site Visits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Schedule in-person inspection dates and track confirmation.</a:t>
            </a:r>
          </a:p>
          <a:p>
            <a:pPr>
              <a:defRPr sz="1050" b="1">
                <a:solidFill>
                  <a:srgbClr val="2563EB"/>
                </a:solidFill>
                <a:latin typeface="Arial"/>
              </a:defRPr>
            </a:pPr>
            <a:r>
              <a:t>• FR-B5 Legal Consultation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Browse attorneys, view available calendar slots &amp; book video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1371600"/>
            <a:ext cx="263347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3347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536192"/>
            <a:ext cx="2359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A2520"/>
                </a:solidFill>
                <a:latin typeface="Arial"/>
              </a:defRPr>
            </a:pPr>
            <a:r>
              <a:t>Property Seller</a:t>
            </a:r>
          </a:p>
          <a:p>
            <a:pPr>
              <a:defRPr sz="1050" b="1">
                <a:solidFill>
                  <a:srgbClr val="10B981"/>
                </a:solidFill>
                <a:latin typeface="Arial"/>
              </a:defRPr>
            </a:pPr>
            <a:r>
              <a:t>• FR-S1 In-Place Verification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Submit Phone, Address &amp; NIC document without re-registering.</a:t>
            </a:r>
          </a:p>
          <a:p>
            <a:pPr>
              <a:defRPr sz="1050" b="1">
                <a:solidFill>
                  <a:srgbClr val="10B981"/>
                </a:solidFill>
                <a:latin typeface="Arial"/>
              </a:defRPr>
            </a:pPr>
            <a:r>
              <a:t>• FR-S2 Listing Creation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Multi-step draft intake capturing coordinates, features &amp; price.</a:t>
            </a:r>
          </a:p>
          <a:p>
            <a:pPr>
              <a:defRPr sz="1050" b="1">
                <a:solidFill>
                  <a:srgbClr val="10B981"/>
                </a:solidFill>
                <a:latin typeface="Arial"/>
              </a:defRPr>
            </a:pPr>
            <a:r>
              <a:t>• FR-S3 Legal Uploads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Securely upload Title Deeds, Survey Plans &amp; Local Council docs.</a:t>
            </a:r>
          </a:p>
          <a:p>
            <a:pPr>
              <a:defRPr sz="1050" b="1">
                <a:solidFill>
                  <a:srgbClr val="10B981"/>
                </a:solidFill>
                <a:latin typeface="Arial"/>
              </a:defRPr>
            </a:pPr>
            <a:r>
              <a:t>• FR-S4 Monetization Tiers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Basic, Verified, and Featured listing plans via PayHere gateway.</a:t>
            </a:r>
          </a:p>
          <a:p>
            <a:pPr>
              <a:defRPr sz="1050" b="1">
                <a:solidFill>
                  <a:srgbClr val="10B981"/>
                </a:solidFill>
                <a:latin typeface="Arial"/>
              </a:defRPr>
            </a:pPr>
            <a:r>
              <a:t>• FR-S5 Inquiry Handling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Respond to buyer inquiries and manage site visit bookings.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371600"/>
            <a:ext cx="263347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371600"/>
            <a:ext cx="2633472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536192"/>
            <a:ext cx="2359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A2520"/>
                </a:solidFill>
                <a:latin typeface="Arial"/>
              </a:defRPr>
            </a:pPr>
            <a:r>
              <a:t>Real Estate Lawyer</a:t>
            </a:r>
          </a:p>
          <a:p>
            <a:pPr>
              <a:defRPr sz="1050" b="1">
                <a:solidFill>
                  <a:srgbClr val="D97706"/>
                </a:solidFill>
                <a:latin typeface="Arial"/>
              </a:defRPr>
            </a:pPr>
            <a:r>
              <a:t>• FR-L1 Profile &amp; Fees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Manage bar credentials, hourly rates, bio, and languages.</a:t>
            </a:r>
          </a:p>
          <a:p>
            <a:pPr>
              <a:defRPr sz="1050" b="1">
                <a:solidFill>
                  <a:srgbClr val="D97706"/>
                </a:solidFill>
                <a:latin typeface="Arial"/>
              </a:defRPr>
            </a:pPr>
            <a:r>
              <a:t>• FR-L2 Availability Slots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Define weekly consultation schedule &amp; block holiday dates.</a:t>
            </a:r>
          </a:p>
          <a:p>
            <a:pPr>
              <a:defRPr sz="1050" b="1">
                <a:solidFill>
                  <a:srgbClr val="D97706"/>
                </a:solidFill>
                <a:latin typeface="Arial"/>
              </a:defRPr>
            </a:pPr>
            <a:r>
              <a:t>• FR-L3 Deed Review Queue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Access assigned property title deeds and survey cadastrals.</a:t>
            </a:r>
          </a:p>
          <a:p>
            <a:pPr>
              <a:defRPr sz="1050" b="1">
                <a:solidFill>
                  <a:srgbClr val="D97706"/>
                </a:solidFill>
                <a:latin typeface="Arial"/>
              </a:defRPr>
            </a:pPr>
            <a:r>
              <a:t>• FR-L4 Legal Clearance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Issue deed review findings and recommend verified badge.</a:t>
            </a:r>
          </a:p>
          <a:p>
            <a:pPr>
              <a:defRPr sz="1050" b="1">
                <a:solidFill>
                  <a:srgbClr val="D97706"/>
                </a:solidFill>
                <a:latin typeface="Arial"/>
              </a:defRPr>
            </a:pPr>
            <a:r>
              <a:t>• FR-L5 Video Consultations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Host video advisory meetings with calendar invite sync.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371600"/>
            <a:ext cx="263347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15984" y="1371600"/>
            <a:ext cx="2633472" cy="73152"/>
          </a:xfrm>
          <a:prstGeom prst="rect">
            <a:avLst/>
          </a:prstGeom>
          <a:solidFill>
            <a:srgbClr val="7D6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536192"/>
            <a:ext cx="2359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A2520"/>
                </a:solidFill>
                <a:latin typeface="Arial"/>
              </a:defRPr>
            </a:pPr>
            <a:r>
              <a:t>System Administrator</a:t>
            </a:r>
          </a:p>
          <a:p>
            <a:pPr>
              <a:defRPr sz="1050" b="1">
                <a:solidFill>
                  <a:srgbClr val="7D6E60"/>
                </a:solidFill>
                <a:latin typeface="Arial"/>
              </a:defRPr>
            </a:pPr>
            <a:r>
              <a:t>• FR-A1 Identity Governance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Audit pending seller NIC submissions; approve or reject.</a:t>
            </a:r>
          </a:p>
          <a:p>
            <a:pPr>
              <a:defRPr sz="1050" b="1">
                <a:solidFill>
                  <a:srgbClr val="7D6E60"/>
                </a:solidFill>
                <a:latin typeface="Arial"/>
              </a:defRPr>
            </a:pPr>
            <a:r>
              <a:t>• FR-A2 Listing Quality Audit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Screen property drafts and validate payment receipts/slips.</a:t>
            </a:r>
          </a:p>
          <a:p>
            <a:pPr>
              <a:defRPr sz="1050" b="1">
                <a:solidFill>
                  <a:srgbClr val="7D6E60"/>
                </a:solidFill>
                <a:latin typeface="Arial"/>
              </a:defRPr>
            </a:pPr>
            <a:r>
              <a:t>• FR-A3 Deed Badge Control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Toggle official 'KNW Certified Deed Verified' badge.</a:t>
            </a:r>
          </a:p>
          <a:p>
            <a:pPr>
              <a:defRPr sz="1050" b="1">
                <a:solidFill>
                  <a:srgbClr val="7D6E60"/>
                </a:solidFill>
                <a:latin typeface="Arial"/>
              </a:defRPr>
            </a:pPr>
            <a:r>
              <a:t>• FR-A4 Payment Audit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Oversee listing fee &amp; lawyer consultation fee transactions.</a:t>
            </a:r>
          </a:p>
          <a:p>
            <a:pPr>
              <a:defRPr sz="1050" b="1">
                <a:solidFill>
                  <a:srgbClr val="7D6E60"/>
                </a:solidFill>
                <a:latin typeface="Arial"/>
              </a:defRPr>
            </a:pPr>
            <a:r>
              <a:t>• FR-A5 Platform Analytics</a:t>
            </a:r>
          </a:p>
          <a:p>
            <a:pPr>
              <a:spcAft>
                <a:spcPts val="600"/>
              </a:spcAft>
              <a:defRPr sz="950">
                <a:solidFill>
                  <a:srgbClr val="6B5D4F"/>
                </a:solidFill>
                <a:latin typeface="Arial"/>
              </a:defRPr>
            </a:pPr>
            <a:r>
              <a:t>  Real-time metrics: active users, revenue, and pending tasks.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USE CASE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Unified System Use Case Architecture (All 4 Actors)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4572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c_un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2743200" cy="66399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285232" y="1371600"/>
            <a:ext cx="6446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8112" y="1481328"/>
            <a:ext cx="6080760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1. Unified Identity &amp; Dynamic Role Switching</a:t>
            </a:r>
          </a:p>
          <a:p>
            <a:pPr>
              <a:defRPr sz="1000">
                <a:solidFill>
                  <a:srgbClr val="6B5D4F"/>
                </a:solidFill>
                <a:latin typeface="Arial"/>
              </a:defRPr>
            </a:pPr>
            <a:r>
              <a:t>Eliminated legacy multi-account friction. Every user defaults to Property Buyer. Users activate Seller privileges in-place via NIC upload and toggle views instantly from the navbar.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569464"/>
            <a:ext cx="6446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8112" y="2679192"/>
            <a:ext cx="6080760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2. End-to-End Property Monetization Pipeline</a:t>
            </a:r>
          </a:p>
          <a:p>
            <a:pPr>
              <a:defRPr sz="1000">
                <a:solidFill>
                  <a:srgbClr val="6B5D4F"/>
                </a:solidFill>
                <a:latin typeface="Arial"/>
              </a:defRPr>
            </a:pPr>
            <a:r>
              <a:t>Sellers intake listings across districts, upload cadastral surveys and deeds, and select monetization packages (Basic, Verified, Featured) with PayHere integration.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6446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8112" y="3877056"/>
            <a:ext cx="6080760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3. LegalTech Deed Verification Workflow</a:t>
            </a:r>
          </a:p>
          <a:p>
            <a:pPr>
              <a:defRPr sz="1000">
                <a:solidFill>
                  <a:srgbClr val="6B5D4F"/>
                </a:solidFill>
                <a:latin typeface="Arial"/>
              </a:defRPr>
            </a:pPr>
            <a:r>
              <a:t>Title deeds uploaded by sellers are automatically routed to licensed real estate attorneys. Once cleared, listings earn the 'KNW Certified Deed Verified' badge to eliminate fraud.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5232" y="4965192"/>
            <a:ext cx="6446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8112" y="5074920"/>
            <a:ext cx="6080760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4. Administrative Governance &amp; Trust Gates</a:t>
            </a:r>
          </a:p>
          <a:p>
            <a:pPr>
              <a:defRPr sz="1000">
                <a:solidFill>
                  <a:srgbClr val="6B5D4F"/>
                </a:solidFill>
                <a:latin typeface="Arial"/>
              </a:defRPr>
            </a:pPr>
            <a:r>
              <a:t>Centralized moderation panel ensures no listing is published and no seller is approved without rigorous identity and legal document auditing.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USE CASE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Stakeholder Use Cases: Property Buyer &amp; Seller Subsystems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04688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1389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rial"/>
              </a:defRPr>
            </a:pPr>
            <a:r>
              <a:t>👤 Property Buyer Use Case Model</a:t>
            </a:r>
          </a:p>
        </p:txBody>
      </p:sp>
      <p:pic>
        <p:nvPicPr>
          <p:cNvPr id="9" name="Picture 8" descr="uc_bu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1680"/>
            <a:ext cx="4206240" cy="43821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1371600"/>
            <a:ext cx="5504688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1389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👤 Property Seller Use Case Model</a:t>
            </a:r>
          </a:p>
        </p:txBody>
      </p:sp>
      <p:pic>
        <p:nvPicPr>
          <p:cNvPr id="12" name="Picture 11" descr="uc_se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206240" cy="29909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USE CASE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Stakeholder Use Cases: Real Estate Lawyer &amp; Administrator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04688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1389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97706"/>
                </a:solidFill>
                <a:latin typeface="Arial"/>
              </a:defRPr>
            </a:pPr>
            <a:r>
              <a:t>⚖️ Real Estate Lawyer Use Case Model</a:t>
            </a:r>
          </a:p>
        </p:txBody>
      </p:sp>
      <p:pic>
        <p:nvPicPr>
          <p:cNvPr id="9" name="Picture 8" descr="uc_law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03120"/>
            <a:ext cx="4206240" cy="268772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1371600"/>
            <a:ext cx="5504688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1389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D6E60"/>
                </a:solidFill>
                <a:latin typeface="Arial"/>
              </a:defRPr>
            </a:pPr>
            <a:r>
              <a:t>🛡️ System Administrator Use Case Model</a:t>
            </a:r>
          </a:p>
        </p:txBody>
      </p:sp>
      <p:pic>
        <p:nvPicPr>
          <p:cNvPr id="12" name="Picture 11" descr="uc_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206240" cy="341734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DATABASE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Relational Database Schema (Entity-Relationship Diagram)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745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9445752" cy="59432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OBJECT-ORIENTED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Domain Models, Business Logic &amp; Controller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745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08760"/>
            <a:ext cx="8229600" cy="48386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7D6E60"/>
                </a:solidFill>
                <a:latin typeface="Arial"/>
              </a:defRPr>
            </a:pPr>
            <a:r>
              <a:t>CONCLUSION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2A2520"/>
                </a:solidFill>
                <a:latin typeface="Arial"/>
              </a:defRPr>
            </a:pPr>
            <a:r>
              <a:t>Key Engineering Achievements &amp; Viva Defense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B5D4F"/>
                </a:solidFill>
                <a:latin typeface="Arial"/>
              </a:defRPr>
            </a:pPr>
            <a:r>
              <a:t>KNW PRO Realtor • System Architecture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2" y="6473952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B5D4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40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498348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A2520"/>
                </a:solidFill>
                <a:latin typeface="Arial"/>
              </a:defRPr>
            </a:pPr>
            <a:r>
              <a:t>1. Unified Single-Account Engine</a:t>
            </a:r>
          </a:p>
          <a:p>
            <a:pPr>
              <a:defRPr sz="1050">
                <a:solidFill>
                  <a:srgbClr val="6B5D4F"/>
                </a:solidFill>
                <a:latin typeface="Arial"/>
              </a:defRPr>
            </a:pPr>
            <a:r>
              <a:t>Solved cross-role registration friction. Users operate seamlessly across Buyer, Seller, and Lawyer modes under one email address, with reactive Context API state synchronization.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371600"/>
            <a:ext cx="5440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1371600"/>
            <a:ext cx="91440" cy="2148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554480"/>
            <a:ext cx="498348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A2520"/>
                </a:solidFill>
                <a:latin typeface="Arial"/>
              </a:defRPr>
            </a:pPr>
            <a:r>
              <a:t>2. Attorney-Backed LegalTech Security</a:t>
            </a:r>
          </a:p>
          <a:p>
            <a:pPr>
              <a:defRPr sz="1050">
                <a:solidFill>
                  <a:srgbClr val="6B5D4F"/>
                </a:solidFill>
                <a:latin typeface="Arial"/>
              </a:defRPr>
            </a:pPr>
            <a:r>
              <a:t>Eradicated fake listings by integrating real-estate attorneys directly into the property workflow. Uploaded deeds undergo rigorous legal audit prior to public marketplace certification.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91440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498348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A2520"/>
                </a:solidFill>
                <a:latin typeface="Arial"/>
              </a:defRPr>
            </a:pPr>
            <a:r>
              <a:t>3. Enterprise REST API Architecture</a:t>
            </a:r>
          </a:p>
          <a:p>
            <a:pPr>
              <a:defRPr sz="1050">
                <a:solidFill>
                  <a:srgbClr val="6B5D4F"/>
                </a:solidFill>
                <a:latin typeface="Arial"/>
              </a:defRPr>
            </a:pPr>
            <a:r>
              <a:t>Engineered with PHP 8.4 and Laravel 13, incorporating Bcrypt security, Eloquent ORM relations, private storage isolation, and modular controllers.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40480"/>
            <a:ext cx="5440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91072" y="3840480"/>
            <a:ext cx="91440" cy="2148840"/>
          </a:xfrm>
          <a:prstGeom prst="rect">
            <a:avLst/>
          </a:prstGeom>
          <a:solidFill>
            <a:srgbClr val="7D6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4023360"/>
            <a:ext cx="498348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A2520"/>
                </a:solidFill>
                <a:latin typeface="Arial"/>
              </a:defRPr>
            </a:pPr>
            <a:r>
              <a:t>4. Full Commercial Integration</a:t>
            </a:r>
          </a:p>
          <a:p>
            <a:pPr>
              <a:defRPr sz="1050">
                <a:solidFill>
                  <a:srgbClr val="6B5D4F"/>
                </a:solidFill>
                <a:latin typeface="Arial"/>
              </a:defRPr>
            </a:pPr>
            <a:r>
              <a:t>Fully equipped with PayHere payment processing, dynamic mortgage/stamp duty calculators, automated ICS calendar sync, and interactive analytics dashboards.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2026-10-21T18:44:04Z</dcterms:created>
  <dcterms:modified xsi:type="dcterms:W3CDTF">2026-10-21T18:44:04Z</dcterms:modified>
</cp:coreProperties>
</file>