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Nanum Myeongjo Bold" panose="020B0604020202020204" charset="-127"/>
      <p:regular r:id="rId20"/>
    </p:embeddedFont>
    <p:embeddedFont>
      <p:font typeface="Abadi" panose="020B0604020104020204" pitchFamily="34" charset="0"/>
      <p:regular r:id="rId21"/>
      <p:bold r:id="rId22"/>
    </p:embeddedFont>
    <p:embeddedFont>
      <p:font typeface="Funnel Sans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80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520">
              <a:alpha val="5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780492"/>
            <a:ext cx="11734506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INDUSTRIAL TRAINING • HIGHER DIPLOMA IN SOFTWARE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3994769"/>
            <a:ext cx="11277318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KNW PRO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Realtor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457189" y="6406197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and implementation of a property trading and legal advisory platform</a:t>
            </a:r>
            <a:endParaRPr lang="en-US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88603-D8C0-6C01-6F5F-80A5CCC41437}"/>
              </a:ext>
            </a:extLst>
          </p:cNvPr>
          <p:cNvSpPr/>
          <p:nvPr/>
        </p:nvSpPr>
        <p:spPr>
          <a:xfrm>
            <a:off x="11010122" y="6550090"/>
            <a:ext cx="1181878" cy="3079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148020"/>
            <a:ext cx="6192385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323380"/>
            <a:ext cx="5735196" cy="2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From fragmented property deals to one trusted platform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3688358"/>
            <a:ext cx="5735196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Connect buyers, sellers,  administrators, and registered legal practitioners.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Reduce manual coordination, opaque listings, and unverified property documents.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context: KNW PRO Realtor (Pvt) Ltd, Colombo.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63" y="0"/>
            <a:ext cx="5085032" cy="6400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E2EECB-34F4-0082-9AD6-1318F3244CE6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339711"/>
            <a:ext cx="6387940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515070"/>
            <a:ext cx="5930752" cy="2803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The project aims to make property transactions safer and simpler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4585474"/>
            <a:ext cx="593075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Digitize property discovery, seller onboarding, legal review, and buyer engagement.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317" y="0"/>
            <a:ext cx="4889378" cy="6400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7DD386-CF5B-2A4A-D38D-3606BAD06A5F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28263"/>
            <a:ext cx="11734506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203623"/>
            <a:ext cx="11277318" cy="7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Scope: a complete property journey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3848001"/>
            <a:ext cx="11277318" cy="19050"/>
          </a:xfrm>
          <a:prstGeom prst="roundRect">
            <a:avLst>
              <a:gd name="adj" fmla="val 49999"/>
            </a:avLst>
          </a:prstGeom>
          <a:solidFill>
            <a:srgbClr val="D4D0C8"/>
          </a:solidFill>
          <a:ln/>
        </p:spPr>
      </p:sp>
      <p:sp>
        <p:nvSpPr>
          <p:cNvPr id="5" name="Shape 3"/>
          <p:cNvSpPr/>
          <p:nvPr/>
        </p:nvSpPr>
        <p:spPr>
          <a:xfrm>
            <a:off x="2253102" y="3314601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4D0C8"/>
          </a:solidFill>
          <a:ln/>
        </p:spPr>
      </p:sp>
      <p:sp>
        <p:nvSpPr>
          <p:cNvPr id="6" name="Shape 4"/>
          <p:cNvSpPr/>
          <p:nvPr/>
        </p:nvSpPr>
        <p:spPr>
          <a:xfrm>
            <a:off x="2062607" y="3647976"/>
            <a:ext cx="400040" cy="400050"/>
          </a:xfrm>
          <a:prstGeom prst="roundRect">
            <a:avLst>
              <a:gd name="adj" fmla="val 6667"/>
            </a:avLst>
          </a:prstGeom>
          <a:solidFill>
            <a:srgbClr val="EEEAE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280" y="3714601"/>
            <a:ext cx="266693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4984" y="2057003"/>
            <a:ext cx="3255286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7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Register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4984" y="2390279"/>
            <a:ext cx="325528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Register and authenticate users.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69663" y="3848001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4D0C8"/>
          </a:solidFill>
          <a:ln/>
        </p:spPr>
      </p:sp>
      <p:sp>
        <p:nvSpPr>
          <p:cNvPr id="11" name="Shape 8"/>
          <p:cNvSpPr/>
          <p:nvPr/>
        </p:nvSpPr>
        <p:spPr>
          <a:xfrm>
            <a:off x="3979168" y="3647976"/>
            <a:ext cx="400040" cy="400050"/>
          </a:xfrm>
          <a:prstGeom prst="roundRect">
            <a:avLst>
              <a:gd name="adj" fmla="val 6667"/>
            </a:avLst>
          </a:prstGeom>
          <a:solidFill>
            <a:srgbClr val="EEEAE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5841" y="3714601"/>
            <a:ext cx="266693" cy="266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1495" y="4559201"/>
            <a:ext cx="3255385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7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551545" y="4892477"/>
            <a:ext cx="325538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Search, filter, shortlist, and review property dossiers.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86224" y="3314601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4D0C8"/>
          </a:solidFill>
          <a:ln/>
        </p:spPr>
      </p:sp>
      <p:sp>
        <p:nvSpPr>
          <p:cNvPr id="16" name="Shape 12"/>
          <p:cNvSpPr/>
          <p:nvPr/>
        </p:nvSpPr>
        <p:spPr>
          <a:xfrm>
            <a:off x="5895728" y="3647976"/>
            <a:ext cx="400040" cy="400050"/>
          </a:xfrm>
          <a:prstGeom prst="roundRect">
            <a:avLst>
              <a:gd name="adj" fmla="val 6667"/>
            </a:avLst>
          </a:prstGeom>
          <a:solidFill>
            <a:srgbClr val="EEEAE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2402" y="3714601"/>
            <a:ext cx="266693" cy="2667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68056" y="2057003"/>
            <a:ext cx="3255385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7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Prepare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4468105" y="2390279"/>
            <a:ext cx="325538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Apply to sell, submit property details, upload documents, and choose listing plans.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002883" y="3848001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4D0C8"/>
          </a:solidFill>
          <a:ln/>
        </p:spPr>
      </p:sp>
      <p:sp>
        <p:nvSpPr>
          <p:cNvPr id="21" name="Shape 16"/>
          <p:cNvSpPr/>
          <p:nvPr/>
        </p:nvSpPr>
        <p:spPr>
          <a:xfrm>
            <a:off x="7812388" y="3647976"/>
            <a:ext cx="400040" cy="400050"/>
          </a:xfrm>
          <a:prstGeom prst="roundRect">
            <a:avLst>
              <a:gd name="adj" fmla="val 6667"/>
            </a:avLst>
          </a:prstGeom>
          <a:solidFill>
            <a:srgbClr val="EEEAE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9061" y="3714601"/>
            <a:ext cx="266693" cy="2667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4765" y="4559201"/>
            <a:ext cx="3255286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7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Connect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384765" y="4892477"/>
            <a:ext cx="32552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Book site inspections or legal consultations.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9919444" y="3314601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4D0C8"/>
          </a:solidFill>
          <a:ln/>
        </p:spPr>
      </p:sp>
      <p:sp>
        <p:nvSpPr>
          <p:cNvPr id="26" name="Shape 20"/>
          <p:cNvSpPr/>
          <p:nvPr/>
        </p:nvSpPr>
        <p:spPr>
          <a:xfrm>
            <a:off x="9728949" y="3647976"/>
            <a:ext cx="400040" cy="400050"/>
          </a:xfrm>
          <a:prstGeom prst="roundRect">
            <a:avLst>
              <a:gd name="adj" fmla="val 6667"/>
            </a:avLst>
          </a:prstGeom>
          <a:solidFill>
            <a:srgbClr val="EEEAE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95622" y="3714601"/>
            <a:ext cx="266693" cy="2667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01276" y="2057003"/>
            <a:ext cx="3255385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7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Govern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8301326" y="2390279"/>
            <a:ext cx="325538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Review, verify, publish, and monitor activity through administration.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16325C-FF62-1783-2EC3-3A80B093A7AF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720884"/>
            <a:ext cx="6583595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BOUNDARIES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896243"/>
            <a:ext cx="6126406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Out of scope for this training project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2480449"/>
            <a:ext cx="65835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These remain professional, regulatory, or future-extension concerns.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189" y="3027935"/>
            <a:ext cx="61264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Professional judgment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3420170"/>
            <a:ext cx="6126406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Replacing licensed attorneys or issuing final legal opinions.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legal validity decisions without human review.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9" y="4265391"/>
            <a:ext cx="61264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Regulatory execution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4657626"/>
            <a:ext cx="6126406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Property ownership transfer, land registry execution, or payment settlement.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 native mobile apps, OCR identity extraction, and real-time WebSocket messaging.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46655"/>
            <a:ext cx="4693822" cy="6400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82EF8-6C99-C57B-4AA4-E3796002F1A1}"/>
              </a:ext>
            </a:extLst>
          </p:cNvPr>
          <p:cNvSpPr/>
          <p:nvPr/>
        </p:nvSpPr>
        <p:spPr>
          <a:xfrm>
            <a:off x="10907486" y="6419656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793313"/>
            <a:ext cx="11734506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STAKEHOLDERS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68673"/>
            <a:ext cx="11277318" cy="7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One platform, four stakeholder views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828403"/>
            <a:ext cx="10413739" cy="3796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EB409-FB2E-9B28-4CF8-1DC90C281F33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90225"/>
            <a:ext cx="11734506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FUNCTIONAL REQUIREMENTS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865584"/>
            <a:ext cx="11277318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Functional requirements follow the real user journey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389" y="2426295"/>
            <a:ext cx="7656916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4534" y="2832912"/>
            <a:ext cx="4210744" cy="18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Account Creation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784534" y="3598608"/>
            <a:ext cx="4210744" cy="18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Role &amp; Workspace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84534" y="4356647"/>
            <a:ext cx="4210744" cy="18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Listing Intake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84534" y="5114686"/>
            <a:ext cx="4210744" cy="18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Search &amp; Verify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3281B-719C-C68A-5F96-07E7461ED69D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830620"/>
            <a:ext cx="11734506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QUALITY ATTRIBUTES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005979"/>
            <a:ext cx="11277318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Non-functional requirements protect trust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2585740"/>
            <a:ext cx="5486263" cy="1348581"/>
          </a:xfrm>
          <a:prstGeom prst="roundRect">
            <a:avLst>
              <a:gd name="adj" fmla="val 1978"/>
            </a:avLst>
          </a:prstGeom>
          <a:solidFill>
            <a:srgbClr val="EEEAE2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815805"/>
            <a:ext cx="50290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Security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783" y="3212485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Bcrypt password hashing, private identity-document storage, and permission gates.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585740"/>
            <a:ext cx="5486263" cy="1348581"/>
          </a:xfrm>
          <a:prstGeom prst="roundRect">
            <a:avLst>
              <a:gd name="adj" fmla="val 1978"/>
            </a:avLst>
          </a:prstGeom>
          <a:solidFill>
            <a:srgbClr val="EEEAE2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815805"/>
            <a:ext cx="50290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Maintainability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76838" y="3212485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Decoupled frontend and backend, MVC organization, REST APIs, and migrations.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189" y="4239121"/>
            <a:ext cx="5486263" cy="1348581"/>
          </a:xfrm>
          <a:prstGeom prst="roundRect">
            <a:avLst>
              <a:gd name="adj" fmla="val 1978"/>
            </a:avLst>
          </a:prstGeom>
          <a:solidFill>
            <a:srgbClr val="EEEA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4469187"/>
            <a:ext cx="50290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Usability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783" y="4865866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Responsive layouts, reactive state, multilingual and multi-currency support.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4239121"/>
            <a:ext cx="5486263" cy="1348581"/>
          </a:xfrm>
          <a:prstGeom prst="roundRect">
            <a:avLst>
              <a:gd name="adj" fmla="val 1978"/>
            </a:avLst>
          </a:prstGeom>
          <a:solidFill>
            <a:srgbClr val="EEEAE2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4469187"/>
            <a:ext cx="50290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dirty="0">
                <a:solidFill>
                  <a:srgbClr val="6B5D4F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76838" y="4865866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Indexed property searches and independently scalable client/server tiers.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AF6BB1-DC77-2454-BAF1-FA6A7A8C5367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061" y="334814"/>
            <a:ext cx="11734506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TECHNICAL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28985"/>
            <a:ext cx="11277318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Decoupled architecture keeps responsibilities clear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489696"/>
            <a:ext cx="9524762" cy="317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6B5D4F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7895" y="6542286"/>
            <a:ext cx="1608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KNW PRO Realtor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945440" y="6542286"/>
            <a:ext cx="2462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0EDC5-6DEE-6427-AC3C-125C6369F867}"/>
              </a:ext>
            </a:extLst>
          </p:cNvPr>
          <p:cNvSpPr/>
          <p:nvPr/>
        </p:nvSpPr>
        <p:spPr>
          <a:xfrm>
            <a:off x="10907486" y="6410325"/>
            <a:ext cx="1284514" cy="428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67629"/>
            <a:ext cx="6974705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050" kern="100" spc="84" dirty="0">
                <a:solidFill>
                  <a:srgbClr val="7D6E6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IDENTITY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842988"/>
            <a:ext cx="6517517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A2520"/>
                </a:solidFill>
                <a:latin typeface="Nanum Myeongjo Bold" pitchFamily="34" charset="0"/>
                <a:ea typeface="Nanum Myeongjo Bold" pitchFamily="34" charset="-122"/>
                <a:cs typeface="Nanum Myeongjo Bold" pitchFamily="34" charset="-120"/>
              </a:rPr>
              <a:t>Role switching removes a costly account barrier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3422749"/>
            <a:ext cx="6517517" cy="137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6B5D4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A user starts with buyer access.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6B5D4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 user submits seller details and NIC documents.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6B5D4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Administration reviews the application.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6B5D4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Approved users switch between Buyer Mode, Seller Mode, and Lawyer Mode from one account.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189" y="4963497"/>
            <a:ext cx="69747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B5D4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Separate accounts become one unified identity.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D6E60"/>
                </a:solidFill>
                <a:latin typeface="Arial"/>
              </a:defRPr>
            </a:pPr>
            <a:r>
              <a:t>REQUIREMENTS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t>Detailed Functional Requirements by Stakeholder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3347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3347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23591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A2520"/>
                </a:solidFill>
                <a:latin typeface="Arial"/>
              </a:defRPr>
            </a:pPr>
            <a:r>
              <a:rPr dirty="0"/>
              <a:t>Property Buyer</a:t>
            </a:r>
          </a:p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rPr dirty="0"/>
              <a:t>• FR-B1 Property Discovery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rPr dirty="0"/>
              <a:t>  District, property type &amp; price filtering with instant search index.</a:t>
            </a:r>
          </a:p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rPr dirty="0"/>
              <a:t>• FR-B2 Deed Verification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rPr dirty="0"/>
              <a:t>  Check 'KNW Certified Deed Verified' badge and legal summary dossier.</a:t>
            </a:r>
          </a:p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rPr dirty="0"/>
              <a:t>• FR-B3 Financial Tools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rPr dirty="0"/>
              <a:t>  Mortgage amortization &amp; stamp duty payment calculations.</a:t>
            </a:r>
          </a:p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rPr dirty="0"/>
              <a:t>• FR-B4 Physical Site Visits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rPr dirty="0"/>
              <a:t>  Schedule in-person inspection dates and track confirmation.</a:t>
            </a:r>
          </a:p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rPr dirty="0"/>
              <a:t>• FR-B5 Legal Consultation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rPr dirty="0"/>
              <a:t>  Browse attorneys, view available calendar slots &amp; book video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371600"/>
            <a:ext cx="263347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0128" y="1371600"/>
            <a:ext cx="263347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554854"/>
            <a:ext cx="23591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A2520"/>
                </a:solidFill>
                <a:latin typeface="Arial"/>
              </a:defRPr>
            </a:pPr>
            <a:r>
              <a:t>Property Seller</a:t>
            </a:r>
          </a:p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• FR-S1 In-Place Verification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Submit Phone, Address &amp; NIC document without re-registering.</a:t>
            </a:r>
          </a:p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• FR-S2 Listing Creation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Multi-step draft intake capturing coordinates, features &amp; price.</a:t>
            </a:r>
          </a:p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• FR-S3 Legal Uploads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Securely upload Title Deeds, Survey Plans &amp; Local Council docs.</a:t>
            </a:r>
          </a:p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• FR-S4 Monetization Tiers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Basic, Verified, and Featured listing plans via PayHere gateway.</a:t>
            </a:r>
          </a:p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• FR-S5 Inquiry Handling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Respond to buyer inquiries and manage site visit bookings.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371600"/>
            <a:ext cx="263347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1371600"/>
            <a:ext cx="263347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1536192"/>
            <a:ext cx="23591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A2520"/>
                </a:solidFill>
                <a:latin typeface="Arial"/>
              </a:defRPr>
            </a:pPr>
            <a:r>
              <a:t>Real Estate Lawyer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• FR-L1 Profile &amp; Fees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Manage bar credentials, hourly rates, bio, and languages.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• FR-L2 Availability Slots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Define weekly consultation schedule &amp; block holiday dates.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• FR-L3 Deed Review Queue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Access assigned property title deeds and survey cadastrals.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• FR-L4 Legal Clearance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Issue deed review findings and recommend verified badge.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• FR-L5 Video Consultations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Host video advisory meetings with calendar invite sync.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371600"/>
            <a:ext cx="263347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15984" y="1371600"/>
            <a:ext cx="2633472" cy="73152"/>
          </a:xfrm>
          <a:prstGeom prst="rect">
            <a:avLst/>
          </a:prstGeom>
          <a:solidFill>
            <a:srgbClr val="7D6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53144" y="1536192"/>
            <a:ext cx="23591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A2520"/>
                </a:solidFill>
                <a:latin typeface="Arial"/>
              </a:defRPr>
            </a:pPr>
            <a:r>
              <a:t>System Administrator</a:t>
            </a:r>
          </a:p>
          <a:p>
            <a:pPr>
              <a:defRPr sz="1050" b="1">
                <a:solidFill>
                  <a:srgbClr val="7D6E60"/>
                </a:solidFill>
                <a:latin typeface="Arial"/>
              </a:defRPr>
            </a:pPr>
            <a:r>
              <a:t>• FR-A1 Identity Governance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Audit pending seller NIC submissions; approve or reject.</a:t>
            </a:r>
          </a:p>
          <a:p>
            <a:pPr>
              <a:defRPr sz="1050" b="1">
                <a:solidFill>
                  <a:srgbClr val="7D6E60"/>
                </a:solidFill>
                <a:latin typeface="Arial"/>
              </a:defRPr>
            </a:pPr>
            <a:r>
              <a:t>• FR-A2 Listing Quality Audit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Screen property drafts and validate payment receipts/slips.</a:t>
            </a:r>
          </a:p>
          <a:p>
            <a:pPr>
              <a:defRPr sz="1050" b="1">
                <a:solidFill>
                  <a:srgbClr val="7D6E60"/>
                </a:solidFill>
                <a:latin typeface="Arial"/>
              </a:defRPr>
            </a:pPr>
            <a:r>
              <a:t>• FR-A3 Deed Badge Control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Toggle official 'KNW Certified Deed Verified' badge.</a:t>
            </a:r>
          </a:p>
          <a:p>
            <a:pPr>
              <a:defRPr sz="1050" b="1">
                <a:solidFill>
                  <a:srgbClr val="7D6E60"/>
                </a:solidFill>
                <a:latin typeface="Arial"/>
              </a:defRPr>
            </a:pPr>
            <a:r>
              <a:t>• FR-A4 Payment Audit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Oversee listing fee &amp; lawyer consultation fee transactions.</a:t>
            </a:r>
          </a:p>
          <a:p>
            <a:pPr>
              <a:defRPr sz="1050" b="1">
                <a:solidFill>
                  <a:srgbClr val="7D6E60"/>
                </a:solidFill>
                <a:latin typeface="Arial"/>
              </a:defRPr>
            </a:pPr>
            <a:r>
              <a:t>• FR-A5 Platform Analytics</a:t>
            </a:r>
          </a:p>
          <a:p>
            <a:pPr>
              <a:spcAft>
                <a:spcPts val="600"/>
              </a:spcAft>
              <a:defRPr sz="950">
                <a:solidFill>
                  <a:srgbClr val="6B5D4F"/>
                </a:solidFill>
                <a:latin typeface="Arial"/>
              </a:defRPr>
            </a:pPr>
            <a:r>
              <a:t>  Real-time metrics: active users, revenue, and pending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D6E60"/>
                </a:solidFill>
                <a:latin typeface="Arial"/>
              </a:defRPr>
            </a:pPr>
            <a:r>
              <a:t>USE CASE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t>Unified System Use Case Architecture (All 4 Actors)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c_un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2743200" cy="66399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85232" y="1371600"/>
            <a:ext cx="6446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8112" y="1481328"/>
            <a:ext cx="6080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1. Unified Identity &amp; Dynamic Role Switching</a:t>
            </a:r>
          </a:p>
          <a:p>
            <a:pPr>
              <a:defRPr sz="1000">
                <a:solidFill>
                  <a:srgbClr val="6B5D4F"/>
                </a:solidFill>
                <a:latin typeface="Arial"/>
              </a:defRPr>
            </a:pPr>
            <a:r>
              <a:t>Eliminated legacy multi-account friction. Every user defaults to Property Buyer. Users activate Seller privileges in-place via NIC upload and toggle views instantly from the navbar.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2569464"/>
            <a:ext cx="6446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68112" y="2679192"/>
            <a:ext cx="6080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2. End-to-End Property Monetization Pipeline</a:t>
            </a:r>
          </a:p>
          <a:p>
            <a:pPr>
              <a:defRPr sz="1000">
                <a:solidFill>
                  <a:srgbClr val="6B5D4F"/>
                </a:solidFill>
                <a:latin typeface="Arial"/>
              </a:defRPr>
            </a:pPr>
            <a:r>
              <a:t>Sellers intake listings across districts, upload cadastral surveys and deeds, and select monetization packages (Basic, Verified, Featured) with PayHere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85232" y="3767328"/>
            <a:ext cx="6446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68112" y="3877056"/>
            <a:ext cx="6080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3. LegalTech Deed Verification Workflow</a:t>
            </a:r>
          </a:p>
          <a:p>
            <a:pPr>
              <a:defRPr sz="1000">
                <a:solidFill>
                  <a:srgbClr val="6B5D4F"/>
                </a:solidFill>
                <a:latin typeface="Arial"/>
              </a:defRPr>
            </a:pPr>
            <a:r>
              <a:t>Title deeds uploaded by sellers are automatically routed to licensed real estate attorneys. Once cleared, listings earn the 'KNW Certified Deed Verified' badge to eliminate fraud.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4965192"/>
            <a:ext cx="6446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68112" y="5074920"/>
            <a:ext cx="6080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4. Administrative Governance &amp; Trust Gates</a:t>
            </a:r>
          </a:p>
          <a:p>
            <a:pPr>
              <a:defRPr sz="1000">
                <a:solidFill>
                  <a:srgbClr val="6B5D4F"/>
                </a:solidFill>
                <a:latin typeface="Arial"/>
              </a:defRPr>
            </a:pPr>
            <a:r>
              <a:t>Centralized moderation panel ensures no listing is published and no seller is approved without rigorous identity and legal document auditing.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D6E60"/>
                </a:solidFill>
                <a:latin typeface="Arial"/>
              </a:defRPr>
            </a:pPr>
            <a:r>
              <a:t>USE CASE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t>Stakeholder Use Cases: Property Buyer &amp; Seller Subsystems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04688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389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👤 Property Buyer Use Case Model</a:t>
            </a:r>
          </a:p>
        </p:txBody>
      </p:sp>
      <p:pic>
        <p:nvPicPr>
          <p:cNvPr id="9" name="Picture 8" descr="uc_bu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1680"/>
            <a:ext cx="4206240" cy="43821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371600"/>
            <a:ext cx="5504688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389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👤 Property Seller Use Case Model</a:t>
            </a:r>
          </a:p>
        </p:txBody>
      </p:sp>
      <p:pic>
        <p:nvPicPr>
          <p:cNvPr id="12" name="Picture 11" descr="uc_se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4206240" cy="29909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D6E60"/>
                </a:solidFill>
                <a:latin typeface="Arial"/>
              </a:defRPr>
            </a:pPr>
            <a:r>
              <a:t>USE CASE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t>Stakeholder Use Cases: Real Estate Lawyer &amp; Administrator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04688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389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⚖️ Real Estate Lawyer Use Case Model</a:t>
            </a:r>
          </a:p>
        </p:txBody>
      </p:sp>
      <p:pic>
        <p:nvPicPr>
          <p:cNvPr id="9" name="Picture 8" descr="uc_law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4206240" cy="268772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371600"/>
            <a:ext cx="5504688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389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D6E60"/>
                </a:solidFill>
                <a:latin typeface="Arial"/>
              </a:defRPr>
            </a:pPr>
            <a:r>
              <a:t>🛡️ System Administrator Use Case Model</a:t>
            </a:r>
          </a:p>
        </p:txBody>
      </p:sp>
      <p:pic>
        <p:nvPicPr>
          <p:cNvPr id="12" name="Picture 11" descr="uc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4206240" cy="34173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D6E60"/>
                </a:solidFill>
                <a:latin typeface="Arial"/>
              </a:defRPr>
            </a:pPr>
            <a:r>
              <a:rPr dirty="0"/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rPr dirty="0"/>
              <a:t>Relational Database Schema (Entity-Relationship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45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08760"/>
            <a:ext cx="9445752" cy="59432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40080"/>
            <a:ext cx="1127455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rPr lang="en-US" dirty="0"/>
              <a:t>Challenges Faced During Development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45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Multi-</a:t>
            </a:r>
            <a:r>
              <a:rPr lang="en-US" dirty="0" err="1"/>
              <a:t>RolMulti</a:t>
            </a:r>
            <a:r>
              <a:rPr lang="en-US" dirty="0"/>
              <a:t>-Role Access Control</a:t>
            </a:r>
          </a:p>
          <a:p>
            <a:r>
              <a:rPr lang="en-US" dirty="0"/>
              <a:t>Managing separate permissions for buyers, sellers, lawyers, and administrators.</a:t>
            </a:r>
          </a:p>
          <a:p>
            <a:r>
              <a:rPr lang="en-US" dirty="0"/>
              <a:t>Property Search and Listings</a:t>
            </a:r>
          </a:p>
          <a:p>
            <a:r>
              <a:rPr lang="en-US" dirty="0"/>
              <a:t>Implementing accurate search filters and reliable property information management.</a:t>
            </a:r>
          </a:p>
          <a:p>
            <a:r>
              <a:rPr lang="en-US" dirty="0"/>
              <a:t>Legal Verification</a:t>
            </a:r>
          </a:p>
          <a:p>
            <a:r>
              <a:rPr lang="en-US" dirty="0"/>
              <a:t>Handling property documents and supporting lawyer-led verification workflows.</a:t>
            </a:r>
          </a:p>
          <a:p>
            <a:r>
              <a:rPr lang="en-US" dirty="0"/>
              <a:t>Backend and Database Integration</a:t>
            </a:r>
          </a:p>
          <a:p>
            <a:r>
              <a:rPr lang="en-US" dirty="0"/>
              <a:t>Connecting React.js, Laravel, and MySQL while maintaining data consistency.</a:t>
            </a:r>
          </a:p>
          <a:p>
            <a:r>
              <a:rPr lang="en-US" dirty="0"/>
              <a:t>Security and Usability</a:t>
            </a:r>
          </a:p>
          <a:p>
            <a:r>
              <a:rPr lang="en-US" dirty="0"/>
              <a:t>Protecting sensitive information and delivering a responsive interface for all users.</a:t>
            </a:r>
          </a:p>
          <a:p>
            <a:r>
              <a:rPr lang="en-US" dirty="0"/>
              <a:t>e Access Control</a:t>
            </a:r>
          </a:p>
          <a:p>
            <a:r>
              <a:rPr lang="en-US" dirty="0"/>
              <a:t>Managing separate permissions for buyers, sellers, lawyers, and administrators.</a:t>
            </a:r>
          </a:p>
          <a:p>
            <a:r>
              <a:rPr lang="en-US" dirty="0"/>
              <a:t>Property Search and Listings</a:t>
            </a:r>
          </a:p>
          <a:p>
            <a:r>
              <a:rPr lang="en-US" dirty="0"/>
              <a:t>Implementing accurate search filters and reliable property information management.</a:t>
            </a:r>
          </a:p>
          <a:p>
            <a:r>
              <a:rPr lang="en-US" dirty="0"/>
              <a:t>Legal Verification</a:t>
            </a:r>
          </a:p>
          <a:p>
            <a:r>
              <a:rPr lang="en-US" dirty="0"/>
              <a:t>Handling property documents and supporting lawyer-led verification workflows.</a:t>
            </a:r>
          </a:p>
          <a:p>
            <a:r>
              <a:rPr lang="en-US" dirty="0"/>
              <a:t>Backend and Database Integration</a:t>
            </a:r>
          </a:p>
          <a:p>
            <a:r>
              <a:rPr lang="en-US" dirty="0"/>
              <a:t>Connecting React.js, Laravel, and MySQL while maintaining data consistency.</a:t>
            </a:r>
          </a:p>
          <a:p>
            <a:r>
              <a:rPr lang="en-US" dirty="0"/>
              <a:t>Security and Usability</a:t>
            </a:r>
          </a:p>
          <a:p>
            <a:r>
              <a:rPr lang="en-US" dirty="0"/>
              <a:t>Protecting sensitive information and delivering a responsive interface for all users.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CE3BD91F-E31B-F480-069A-ACCD8164E90D}"/>
              </a:ext>
            </a:extLst>
          </p:cNvPr>
          <p:cNvSpPr/>
          <p:nvPr/>
        </p:nvSpPr>
        <p:spPr>
          <a:xfrm>
            <a:off x="457200" y="13716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1300" b="1">
                <a:solidFill>
                  <a:srgbClr val="2A2520"/>
                </a:solidFill>
                <a:latin typeface="Arial"/>
              </a:defRPr>
            </a:pPr>
            <a:r>
              <a:rPr lang="en-US" dirty="0"/>
              <a:t>Multi Role Access control</a:t>
            </a:r>
          </a:p>
          <a:p>
            <a:pPr>
              <a:defRPr sz="1050">
                <a:solidFill>
                  <a:srgbClr val="6B5D4F"/>
                </a:solidFill>
                <a:latin typeface="Arial"/>
              </a:defRPr>
            </a:pPr>
            <a:r>
              <a:rPr lang="en-US" dirty="0"/>
              <a:t>Solved cross-role registration friction. Users operate seamlessly across Buyer, Seller, and Lawyer modes under one email address, with reactive Context API state synchronization.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B4167AF-E4D1-75B1-A266-ACD699CEA52A}"/>
              </a:ext>
            </a:extLst>
          </p:cNvPr>
          <p:cNvSpPr/>
          <p:nvPr/>
        </p:nvSpPr>
        <p:spPr>
          <a:xfrm>
            <a:off x="579121" y="3558789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1300" b="1">
                <a:solidFill>
                  <a:srgbClr val="2A2520"/>
                </a:solidFill>
                <a:latin typeface="Arial"/>
              </a:defRPr>
            </a:pPr>
            <a:r>
              <a:rPr lang="en-US" dirty="0"/>
              <a:t>Enterprise REST API Architecture</a:t>
            </a:r>
          </a:p>
          <a:p>
            <a:pPr>
              <a:defRPr sz="1050">
                <a:solidFill>
                  <a:srgbClr val="6B5D4F"/>
                </a:solidFill>
                <a:latin typeface="Arial"/>
              </a:defRPr>
            </a:pPr>
            <a:r>
              <a:rPr lang="en-US" dirty="0"/>
              <a:t>Engineered with PHP 8.4 and Laravel 13, incorporating </a:t>
            </a:r>
            <a:r>
              <a:rPr lang="en-US" dirty="0" err="1"/>
              <a:t>Bcrypt</a:t>
            </a:r>
            <a:r>
              <a:rPr lang="en-US" dirty="0"/>
              <a:t> security, Eloquent ORM relations, private storage isolation, and modular controllers.</a:t>
            </a:r>
          </a:p>
          <a:p>
            <a:pPr>
              <a:defRPr sz="1050">
                <a:solidFill>
                  <a:srgbClr val="6B5D4F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05DD5997-F2E6-3A3C-B517-C53FA09B07DE}"/>
              </a:ext>
            </a:extLst>
          </p:cNvPr>
          <p:cNvSpPr/>
          <p:nvPr/>
        </p:nvSpPr>
        <p:spPr>
          <a:xfrm>
            <a:off x="6094476" y="13716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1300" b="1">
                <a:solidFill>
                  <a:srgbClr val="2A2520"/>
                </a:solidFill>
                <a:latin typeface="Arial"/>
              </a:defRPr>
            </a:pPr>
            <a:r>
              <a:rPr lang="en-US" dirty="0"/>
              <a:t>Dealing With Government Laws AND Regulations</a:t>
            </a:r>
          </a:p>
          <a:p>
            <a:pPr>
              <a:defRPr sz="1050">
                <a:solidFill>
                  <a:srgbClr val="6B5D4F"/>
                </a:solidFill>
                <a:latin typeface="Arial"/>
              </a:defRPr>
            </a:pPr>
            <a:r>
              <a:rPr lang="en-US" dirty="0"/>
              <a:t>Difficulty of dealing and make some </a:t>
            </a:r>
            <a:r>
              <a:rPr lang="en-US" dirty="0" err="1"/>
              <a:t>dissitions</a:t>
            </a:r>
            <a:r>
              <a:rPr lang="en-US" dirty="0"/>
              <a:t> of government rules and regulations and acts some of them are I study have to study adding features to this </a:t>
            </a:r>
            <a:r>
              <a:rPr lang="en-US" dirty="0" err="1"/>
              <a:t>whthout</a:t>
            </a:r>
            <a:r>
              <a:rPr lang="en-US" dirty="0"/>
              <a:t> having </a:t>
            </a:r>
            <a:r>
              <a:rPr lang="en-US" dirty="0" err="1"/>
              <a:t>basuc</a:t>
            </a:r>
            <a:r>
              <a:rPr lang="en-US" dirty="0"/>
              <a:t> knowledge of that cant do 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0B6703BC-294E-5C03-B798-CC588A0EA2E0}"/>
              </a:ext>
            </a:extLst>
          </p:cNvPr>
          <p:cNvSpPr/>
          <p:nvPr/>
        </p:nvSpPr>
        <p:spPr>
          <a:xfrm>
            <a:off x="6141722" y="3772677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 sz="1300" b="1">
                <a:solidFill>
                  <a:srgbClr val="2A2520"/>
                </a:solidFill>
                <a:latin typeface="Arial"/>
              </a:defRPr>
            </a:pPr>
            <a:r>
              <a:rPr lang="en-US" dirty="0"/>
              <a:t>Security and usability issues </a:t>
            </a:r>
          </a:p>
          <a:p>
            <a:pPr>
              <a:defRPr sz="1050">
                <a:solidFill>
                  <a:srgbClr val="6B5D4F"/>
                </a:solidFill>
                <a:latin typeface="Arial"/>
              </a:defRPr>
            </a:pPr>
            <a:r>
              <a:rPr lang="en-US" dirty="0"/>
              <a:t>Protecting sensitive details and dealing with personal and legal details with the users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19" y="278779"/>
            <a:ext cx="11659253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D6E60"/>
                </a:solidFill>
                <a:latin typeface="Arial"/>
              </a:defRPr>
            </a:pPr>
            <a:r>
              <a:rPr dirty="0"/>
              <a:t>CONCLUSION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5625"/>
            <a:ext cx="1127455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A2520"/>
                </a:solidFill>
                <a:latin typeface="Arial"/>
              </a:defRPr>
            </a:pPr>
            <a:r>
              <a:rPr dirty="0"/>
              <a:t>Key Engineering Achievements &amp;</a:t>
            </a:r>
            <a:r>
              <a:rPr lang="en-US" dirty="0"/>
              <a:t> </a:t>
            </a:r>
            <a:r>
              <a:rPr lang="en-US" dirty="0" err="1"/>
              <a:t>Aknowledgement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5D4F"/>
                </a:solidFill>
                <a:latin typeface="Arial"/>
              </a:defRPr>
            </a:pPr>
            <a:r>
              <a:t>KNW PRO Realtor • System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B5D4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964865"/>
            <a:ext cx="5512152" cy="3944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Abadi" panose="020F0502020204030204" pitchFamily="34" charset="0"/>
              </a:rPr>
              <a:t>Academic Mentors: </a:t>
            </a:r>
            <a:r>
              <a:rPr lang="en-US" b="0" i="0" dirty="0">
                <a:effectLst/>
                <a:latin typeface="Abadi" panose="020F0502020204030204" pitchFamily="34" charset="0"/>
              </a:rPr>
              <a:t>Profound gratitude to Lanka Nippon </a:t>
            </a:r>
            <a:r>
              <a:rPr lang="en-US" b="0" i="0" dirty="0" err="1">
                <a:effectLst/>
                <a:latin typeface="Abadi" panose="020F0502020204030204" pitchFamily="34" charset="0"/>
              </a:rPr>
              <a:t>BizTech</a:t>
            </a:r>
            <a:r>
              <a:rPr lang="en-US" b="0" i="0" dirty="0">
                <a:effectLst/>
                <a:latin typeface="Abadi" panose="020F0502020204030204" pitchFamily="34" charset="0"/>
              </a:rPr>
              <a:t> Institute, faculty members, and internal supervisors.</a:t>
            </a:r>
            <a:endParaRPr lang="en-US" dirty="0">
              <a:effectLst/>
              <a:latin typeface="Abadi" panose="020F0502020204030204" pitchFamily="34" charset="0"/>
            </a:endParaRPr>
          </a:p>
          <a:p>
            <a:r>
              <a:rPr lang="en-US" b="1" i="0" dirty="0">
                <a:effectLst/>
                <a:latin typeface="Abadi" panose="020F0502020204030204" pitchFamily="34" charset="0"/>
              </a:rPr>
              <a:t>• Host Organization: </a:t>
            </a:r>
            <a:r>
              <a:rPr lang="en-US" b="0" i="0" dirty="0">
                <a:effectLst/>
                <a:latin typeface="Abadi" panose="020F0502020204030204" pitchFamily="34" charset="0"/>
              </a:rPr>
              <a:t>Heartfelt thanks to KNW PRO Realtor (Private) Limited management, external </a:t>
            </a:r>
            <a:r>
              <a:rPr lang="en-US" b="0" i="0" dirty="0" err="1">
                <a:effectLst/>
                <a:latin typeface="Abadi" panose="020F0502020204030204" pitchFamily="34" charset="0"/>
              </a:rPr>
              <a:t>superviors</a:t>
            </a:r>
            <a:r>
              <a:rPr lang="en-US" b="0" i="0" dirty="0">
                <a:effectLst/>
                <a:latin typeface="Abadi" panose="020F0502020204030204" pitchFamily="34" charset="0"/>
              </a:rPr>
              <a:t>, and engineering colleagues.</a:t>
            </a:r>
            <a:endParaRPr lang="en-US" dirty="0">
              <a:effectLst/>
              <a:latin typeface="Abadi" panose="020F0502020204030204" pitchFamily="34" charset="0"/>
            </a:endParaRPr>
          </a:p>
          <a:p>
            <a:r>
              <a:rPr lang="en-US" b="1" i="0" dirty="0">
                <a:effectLst/>
                <a:latin typeface="Abadi" panose="020F0502020204030204" pitchFamily="34" charset="0"/>
              </a:rPr>
              <a:t>• Open for Questions: </a:t>
            </a:r>
            <a:r>
              <a:rPr lang="en-US" b="0" i="0" dirty="0">
                <a:effectLst/>
                <a:latin typeface="Abadi" panose="020F0502020204030204" pitchFamily="34" charset="0"/>
              </a:rPr>
              <a:t>Thank you for your time, attention, and guidance. I welcome questions from the evaluation panel.</a:t>
            </a:r>
            <a:endParaRPr lang="en-US" dirty="0">
              <a:effectLst/>
              <a:latin typeface="Abadi" panose="020F0502020204030204" pitchFamily="34" charset="0"/>
            </a:endParaRPr>
          </a:p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91072" y="2446020"/>
            <a:ext cx="91440" cy="332029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554480"/>
            <a:ext cx="49834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A2520"/>
                </a:solidFill>
                <a:latin typeface="Arial"/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57200" y="2171700"/>
            <a:ext cx="5169408" cy="37993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335" y="2547071"/>
            <a:ext cx="91440" cy="320095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128" y="2446020"/>
            <a:ext cx="4983480" cy="249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b="1" i="0" dirty="0">
                <a:effectLst/>
                <a:latin typeface="Aptos Narrow" panose="020B0004020202020204" pitchFamily="34" charset="0"/>
              </a:rPr>
              <a:t>Production-Ready Platform: </a:t>
            </a:r>
            <a:r>
              <a:rPr lang="en-US" b="0" i="0" dirty="0">
                <a:effectLst/>
                <a:latin typeface="Aptos Narrow" panose="020B0004020202020204" pitchFamily="34" charset="0"/>
              </a:rPr>
              <a:t>Successfully built and deployed the full-stack KNW PRO Realtor real estate and legal clearance platform.</a:t>
            </a:r>
            <a:endParaRPr lang="en-US" dirty="0">
              <a:effectLst/>
              <a:latin typeface="Aptos Narrow" panose="020B0004020202020204" pitchFamily="34" charset="0"/>
            </a:endParaRPr>
          </a:p>
          <a:p>
            <a:r>
              <a:rPr lang="en-US" b="1" i="0" dirty="0">
                <a:effectLst/>
                <a:latin typeface="Aptos Narrow" panose="020B0004020202020204" pitchFamily="34" charset="0"/>
              </a:rPr>
              <a:t>• Academic Fulfillment: </a:t>
            </a:r>
            <a:r>
              <a:rPr lang="en-US" b="0" i="0" dirty="0">
                <a:effectLst/>
                <a:latin typeface="Aptos Narrow" panose="020B0004020202020204" pitchFamily="34" charset="0"/>
              </a:rPr>
              <a:t>100% fulfilled the industrial training curriculum requirements for the Higher Diploma in Software Engineering at LNBTI.</a:t>
            </a:r>
            <a:endParaRPr lang="en-US" dirty="0">
              <a:effectLst/>
              <a:latin typeface="Aptos Narrow" panose="020B0004020202020204" pitchFamily="34" charset="0"/>
            </a:endParaRPr>
          </a:p>
          <a:p>
            <a:r>
              <a:rPr lang="en-US" b="1" i="0" dirty="0">
                <a:effectLst/>
                <a:latin typeface="Aptos Narrow" panose="020B0004020202020204" pitchFamily="34" charset="0"/>
              </a:rPr>
              <a:t>• Commercial Impact: </a:t>
            </a:r>
            <a:r>
              <a:rPr lang="en-US" b="0" i="0" dirty="0">
                <a:effectLst/>
                <a:latin typeface="Aptos Narrow" panose="020B0004020202020204" pitchFamily="34" charset="0"/>
              </a:rPr>
              <a:t>Delivered a fraud-resilient property ecosystem with seamless single-account role switching.</a:t>
            </a:r>
            <a:endParaRPr lang="en-US" dirty="0">
              <a:effectLst/>
              <a:latin typeface="Aptos Narrow" panose="020B00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B581B16E-9817-03C7-D77A-6298C30AB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392" y="2502098"/>
            <a:ext cx="425148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Sincere Acknowledgements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Academic Mentors: Profound gratitude to Lanka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 Nippon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BizTech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Institute, faculty members,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 internal supervisors.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• Host Organization: Heartfelt thanks to KNW PRO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 Realtor (Private) Limited management, external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 supervisors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• Open for Questions: Thank you for your time,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  attention, and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  I welcome questions from the evaluation panel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1472</Words>
  <Application>Microsoft Office PowerPoint</Application>
  <PresentationFormat>Widescreen</PresentationFormat>
  <Paragraphs>213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Narrow</vt:lpstr>
      <vt:lpstr>Arial</vt:lpstr>
      <vt:lpstr>Funnel Sans</vt:lpstr>
      <vt:lpstr>Nanum Myeongjo Bold</vt:lpstr>
      <vt:lpstr>Abadi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Dishani Wasala</cp:lastModifiedBy>
  <cp:revision>6</cp:revision>
  <dcterms:created xsi:type="dcterms:W3CDTF">2026-10-21T18:44:04Z</dcterms:created>
  <dcterms:modified xsi:type="dcterms:W3CDTF">2026-10-22T19:25:30Z</dcterms:modified>
</cp:coreProperties>
</file>