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Good morning respected lecturers and evaluation panel members. Today, I am proud to present my Industrial Training project: 'KNW PRO Realtor' — an enterprise-grade digital property trading, title deed verification, and legal advisory platform developed during my six-month internship at KNW PRO Realtor (Pvt) Ltd in Colombo. In this presentation, I will walk you through the real-world real estate problems we identified, the decoupled architecture we engineered, our key innovation in unified single-account dynamic role switching, and how we bridged software engineering with legal deed security.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roadmap for today's presentation. I have structured our walkthrough into four clear segments: First, the background of our host enterprise and the critical industry problems that motivated this platform. Second, the full-stack architecture connecting React, Laravel, and MySQL. Third, our major functional achievements, highlighting our unified account role-switching engine and legal deed verification conduits. And finally, our quality assurance practices, solutions to difficult technical challenges, and my professional growth during the training.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introduce my host organization. KNW PRO Realtor (Private) Limited is a leading real estate brokerage and land consultancy enterprise in Sri Lanka. Unlike conventional agencies that rely solely on offline brokers and paper documents, KNW PRO Realtor made the strategic decision to build an in-house IT &amp; Digital Systems Department. My internship placement was within this engineering team. Our daily culture followed Agile Scrum with two-week sprints, peer code reviews, and direct collaboration with licensed attorneys and property valuation consultants.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did we build KNW PRO Realtor? The Sri Lankan real estate industry suffers from three severe problems: First, rampant title deed fraud. Bogus listings are uploaded by unauthorized middlemen, resulting in protracted legal battles. Second, existing listing portals do not perform any pre-listing legal screening; buyers discover forged deeds only after placing deposits. And third, from a software UX standpoint, legacy platforms force users to maintain separate accounts with multiple email addresses if they want to both buy and sell property. These three challenges shaped the core engineering requirements of our project.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solution is KNW PRO Realtor — a modern, secure web platform designed around six core pillars: A Unified Single Identity that allows users to seamlessly switch between buying and selling without juggling duplicate accounts. A Legal Verification Guarantee that integrates certified attorneys directly into the listing pipeline. A rich multi-step intake wizard with valuation calculators. A dedicated Buyer Engagement Hub with saved shortlists and printable dossiers. A LegalTech portal with automated iCalendar scheduling. And an Administrative Governance Dashboard ensuring quality and regulatory compliance.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examine the architectural foundation of KNW PRO Realtor. We selected a decoupled three-tier client-server architecture. Tier 1 is the Single Page Application built with React 18 and Vite, delivering instantaneous client-side transitions and reactive global state. Tier 2 is our server-side API constructed with PHP 8.4 on Laravel 13, adhering strictly to RESTful standards, FormRequest validation, and private disk isolation. Tier 3 is our relational MySQL database, strictly normalized to Third Normal Form to ensure zero data redundancy and ACID transaction reliability.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Moving to the frontend: our React application eliminates prop-drilling by establishing three dedicated global context providers. AuthContext maintains authentication and dynamic role states. LanguageContext provides instant trilingual translation between English, Sinhala, and Tamil. And CurrencyContext dynamically recalculates property prices across LKR, USD, EUR, and GBP. We also implemented input debouncing to prevent server overload and centralized form reducers so sellers never lose entered data when navigating wizard steps.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backend, Laravel 13 organizes business logic across dedicated RESTful controllers. We use FormRequests to enforce validation before controller execution, ensuring data integrity. Eloquent ORM manages complex database relationships with eager-loading to prevent N+1 query penalties. From a security perspective, all passwords use 12-round Bcrypt hashing, and sensitive documents like National Identity Cards are stored in a private disk accessible only through authenticated administrative proxy routes.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highlights our most significant architectural innovation. In legacy systems, users were trapped in a single role. If a property buyer wanted to list a house, the system demanded they register a second account with a second email address, causing immense user drop-off. We completely re-architected the identity model. We added a decoupled `seller_status` column and built an in-place verification API. Now, every user holds a single credential. Unverified buyers can submit their NIC directly from the Sell page, and once approved, toggle instantly between Buyer Mode, Seller Mode, and Lawyer Mode with a single click in the navigation bar.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see the six-step LegalTech verification workflow that protects buyers from fraud. When a seller lists a property, deeds and survey plans are submitted into our secure vault. Licensed attorneys review Land Registry extracts before approving the listing. Only cleared properties receive the 'KNW Certified Deed Verified' badge. Furthermore, buyers can schedule video consultations with property attorneys, receiving automated iCalendar invites directly into their Google or Outlook calendars.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demonstrates the commercial and administrative operations of the platform. We implemented a three-tier monetization model with PayHere payment gateway integration and bank deposit slip fallback. For buyers, the system facilitates site visit requests with calendar synchronization. And for enterprise operations, the Admin Dashboard provides centralized control: moderating seller identity applications, auditing property drafts, and tracking business KPIs.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Software engineering rigor was maintained throughout the development lifecycle. We followed Agile Scrum in two-week sprints and governed code quality with GitFlow branching and peer reviews. Our testing strategy encompassed PHPUnit unit tests, Postman API collections, and cross-browser responsive audits. Security was prioritized from day one: Bcrypt password hashing, private storage isolation for identity documents, and complete protection against SQL injection and XSS.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complex software project presents technical hurdles. This slide summarizes four major challenges we overcame: First, resolving the duplicate email collision by decoupling selling authorization from identity. Second, breaking the isolation of lawyer accounts by introducing bidirectional cross-navigation. Third, eliminating document exposure risks by enforcing private disk isolation and authenticated streaming. And fourth, resolving client-side session desynchronization with reactive state refresh dispatchers.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Reflecting on this training experience: I gained profound growth across full-stack software development, architectural refactoring, and security best practices. Looking forward, we have identified several exciting avenues for future scalability: Automated OCR for scanning identity cards, real-time push notifications using Laravel Reverb WebSockets, cross-platform mobile apps using React Native, and interactive GIS mapping for property boundaries.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the six-month industrial training program at KNW PRO Realtor (Private) Limited has been an invaluable, transformative milestone in my engineering education. The project successfully delivered a robust, secure, and production-ready platform that solves genuine commercial real estate problems in Sri Lanka. I would like to express my deepest gratitude to my academic supervisors at LNBTI, my technical mentors at KNW PRO Realtor, and my family for their unwavering support. Thank you very much. I am now open to answer any questions from the panel.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1097280"/>
            <a:ext cx="4114800" cy="411480"/>
          </a:xfrm>
          <a:prstGeom prst="roundRect">
            <a:avLst/>
          </a:prstGeom>
          <a:solidFill>
            <a:srgbClr val="1E293B"/>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lIns="182880" tIns="73152"/>
          <a:lstStyle/>
          <a:p>
            <a:pPr algn="ctr">
              <a:defRPr sz="1100" b="1">
                <a:solidFill>
                  <a:srgbClr val="D97706"/>
                </a:solidFill>
                <a:latin typeface="Arial"/>
              </a:defRPr>
            </a:pPr>
            <a:r>
              <a:t>LNBTI • IT3901 INDUSTRIAL TRAINING PROJECT</a:t>
            </a:r>
          </a:p>
        </p:txBody>
      </p:sp>
      <p:sp>
        <p:nvSpPr>
          <p:cNvPr id="5" name="TextBox 4"/>
          <p:cNvSpPr txBox="1"/>
          <p:nvPr/>
        </p:nvSpPr>
        <p:spPr>
          <a:xfrm>
            <a:off x="914400" y="1645920"/>
            <a:ext cx="10332720" cy="1645920"/>
          </a:xfrm>
          <a:prstGeom prst="rect">
            <a:avLst/>
          </a:prstGeom>
          <a:noFill/>
        </p:spPr>
        <p:txBody>
          <a:bodyPr wrap="square">
            <a:spAutoFit/>
          </a:bodyPr>
          <a:lstStyle/>
          <a:p>
            <a:pPr>
              <a:spcAft>
                <a:spcPts val="800"/>
              </a:spcAft>
              <a:defRPr sz="4000" b="1">
                <a:solidFill>
                  <a:srgbClr val="FFFFFF"/>
                </a:solidFill>
                <a:latin typeface="Arial"/>
              </a:defRPr>
            </a:pPr>
            <a:r>
              <a:t>KNW PRO REALTOR</a:t>
            </a:r>
          </a:p>
          <a:p>
            <a:pPr>
              <a:defRPr sz="1800">
                <a:solidFill>
                  <a:srgbClr val="D97706"/>
                </a:solidFill>
                <a:latin typeface="Arial"/>
              </a:defRPr>
            </a:pPr>
            <a:r>
              <a:t>Design &amp; Implementation of a Digital Property Trading, Title Deed Verification &amp; Legal Advisory Platform</a:t>
            </a:r>
          </a:p>
        </p:txBody>
      </p:sp>
      <p:sp>
        <p:nvSpPr>
          <p:cNvPr id="6" name="Rounded Rectangle 5"/>
          <p:cNvSpPr/>
          <p:nvPr/>
        </p:nvSpPr>
        <p:spPr>
          <a:xfrm>
            <a:off x="914400" y="3657600"/>
            <a:ext cx="10362895" cy="2286000"/>
          </a:xfrm>
          <a:prstGeom prst="roundRect">
            <a:avLst/>
          </a:prstGeom>
          <a:solidFill>
            <a:srgbClr val="1E293B"/>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1000"/>
              </a:spcAft>
              <a:defRPr sz="1500" b="1">
                <a:solidFill>
                  <a:srgbClr val="D97706"/>
                </a:solidFill>
                <a:latin typeface="Arial"/>
              </a:defRPr>
            </a:pPr>
            <a:r>
              <a:t>Candidate Information &amp; Host Enterprise</a:t>
            </a:r>
          </a:p>
          <a:p>
            <a:pPr>
              <a:lnSpc>
                <a:spcPct val="120000"/>
              </a:lnSpc>
              <a:spcBef>
                <a:spcPts val="400"/>
              </a:spcBef>
              <a:spcAft>
                <a:spcPts val="400"/>
              </a:spcAft>
            </a:pPr>
            <a:r>
              <a:rPr sz="1300" b="1">
                <a:solidFill>
                  <a:srgbClr val="D97706"/>
                </a:solidFill>
                <a:latin typeface="Arial"/>
              </a:rPr>
              <a:t>• Student Name: </a:t>
            </a:r>
            <a:r>
              <a:rPr sz="1300">
                <a:solidFill>
                  <a:srgbClr val="F1F5F9"/>
                </a:solidFill>
                <a:latin typeface="Arial"/>
              </a:rPr>
              <a:t>[Student's Full Name]</a:t>
            </a:r>
          </a:p>
          <a:p>
            <a:pPr>
              <a:lnSpc>
                <a:spcPct val="120000"/>
              </a:lnSpc>
              <a:spcBef>
                <a:spcPts val="400"/>
              </a:spcBef>
              <a:spcAft>
                <a:spcPts val="400"/>
              </a:spcAft>
            </a:pPr>
            <a:r>
              <a:rPr sz="1300" b="1">
                <a:solidFill>
                  <a:srgbClr val="D97706"/>
                </a:solidFill>
                <a:latin typeface="Arial"/>
              </a:rPr>
              <a:t>• Registration Number: </a:t>
            </a:r>
            <a:r>
              <a:rPr sz="1300">
                <a:solidFill>
                  <a:srgbClr val="F1F5F9"/>
                </a:solidFill>
                <a:latin typeface="Arial"/>
              </a:rPr>
              <a:t>[Reg Number e.g. DSE/2024/001] | Higher Diploma in Software Engineering</a:t>
            </a:r>
          </a:p>
          <a:p>
            <a:pPr>
              <a:lnSpc>
                <a:spcPct val="120000"/>
              </a:lnSpc>
              <a:spcBef>
                <a:spcPts val="400"/>
              </a:spcBef>
              <a:spcAft>
                <a:spcPts val="400"/>
              </a:spcAft>
            </a:pPr>
            <a:r>
              <a:rPr sz="1300" b="1">
                <a:solidFill>
                  <a:srgbClr val="D97706"/>
                </a:solidFill>
                <a:latin typeface="Arial"/>
              </a:rPr>
              <a:t>• Academic Institute: </a:t>
            </a:r>
            <a:r>
              <a:rPr sz="1300">
                <a:solidFill>
                  <a:srgbClr val="F1F5F9"/>
                </a:solidFill>
                <a:latin typeface="Arial"/>
              </a:rPr>
              <a:t>Lanka Nippon BizTech Institute (LNBTI) • Academic Year 2026</a:t>
            </a:r>
          </a:p>
          <a:p>
            <a:pPr>
              <a:lnSpc>
                <a:spcPct val="120000"/>
              </a:lnSpc>
              <a:spcBef>
                <a:spcPts val="400"/>
              </a:spcBef>
              <a:spcAft>
                <a:spcPts val="400"/>
              </a:spcAft>
            </a:pPr>
            <a:r>
              <a:rPr sz="1300" b="1">
                <a:solidFill>
                  <a:srgbClr val="D97706"/>
                </a:solidFill>
                <a:latin typeface="Arial"/>
              </a:rPr>
              <a:t>• Host Organization: </a:t>
            </a:r>
            <a:r>
              <a:rPr sz="1300">
                <a:solidFill>
                  <a:srgbClr val="F1F5F9"/>
                </a:solidFill>
                <a:latin typeface="Arial"/>
              </a:rPr>
              <a:t>KNW PRO Realtor (Private) Limited, IT &amp; Digital Systems Division, Colombo</a:t>
            </a:r>
          </a:p>
          <a:p>
            <a:pPr>
              <a:lnSpc>
                <a:spcPct val="120000"/>
              </a:lnSpc>
              <a:spcBef>
                <a:spcPts val="400"/>
              </a:spcBef>
              <a:spcAft>
                <a:spcPts val="400"/>
              </a:spcAft>
            </a:pPr>
            <a:r>
              <a:rPr sz="1300" b="1">
                <a:solidFill>
                  <a:srgbClr val="D97706"/>
                </a:solidFill>
                <a:latin typeface="Arial"/>
              </a:rPr>
              <a:t>• Supervisors: </a:t>
            </a:r>
            <a:r>
              <a:rPr sz="1300">
                <a:solidFill>
                  <a:srgbClr val="F1F5F9"/>
                </a:solidFill>
                <a:latin typeface="Arial"/>
              </a:rPr>
              <a:t>Internal: Ms. Nimali Hettiarachchi &amp; Ms. Geethika Senarathne | External: Lead Software Engineer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100" b="1">
                <a:solidFill>
                  <a:srgbClr val="059669"/>
                </a:solidFill>
                <a:latin typeface="Arial"/>
              </a:defRPr>
            </a:pPr>
            <a:r>
              <a:t>OVERVIEW</a:t>
            </a:r>
          </a:p>
        </p:txBody>
      </p:sp>
      <p:sp>
        <p:nvSpPr>
          <p:cNvPr id="4" name="TextBox 3"/>
          <p:cNvSpPr txBox="1"/>
          <p:nvPr/>
        </p:nvSpPr>
        <p:spPr>
          <a:xfrm>
            <a:off x="731520" y="777240"/>
            <a:ext cx="10698480" cy="731520"/>
          </a:xfrm>
          <a:prstGeom prst="rect">
            <a:avLst/>
          </a:prstGeom>
          <a:noFill/>
        </p:spPr>
        <p:txBody>
          <a:bodyPr wrap="square">
            <a:spAutoFit/>
          </a:bodyPr>
          <a:lstStyle/>
          <a:p>
            <a:pPr>
              <a:defRPr sz="2400" b="1">
                <a:solidFill>
                  <a:srgbClr val="0F172A"/>
                </a:solidFill>
                <a:latin typeface="Arial"/>
              </a:defRPr>
            </a:pPr>
            <a:r>
              <a:t>Presentation Roadmap &amp; Agenda</a:t>
            </a:r>
          </a:p>
        </p:txBody>
      </p:sp>
      <p:sp>
        <p:nvSpPr>
          <p:cNvPr id="5" name="Rounded Rectangle 4"/>
          <p:cNvSpPr/>
          <p:nvPr/>
        </p:nvSpPr>
        <p:spPr>
          <a:xfrm>
            <a:off x="731520" y="1645920"/>
            <a:ext cx="5212080" cy="219456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0F172A"/>
                </a:solidFill>
                <a:latin typeface="Arial"/>
              </a:defRPr>
            </a:pPr>
            <a:r>
              <a:t>01. Context &amp; Motivation</a:t>
            </a:r>
          </a:p>
          <a:p>
            <a:pPr>
              <a:lnSpc>
                <a:spcPct val="120000"/>
              </a:lnSpc>
              <a:spcBef>
                <a:spcPts val="400"/>
              </a:spcBef>
              <a:spcAft>
                <a:spcPts val="400"/>
              </a:spcAft>
            </a:pPr>
            <a:r>
              <a:rPr sz="1100" b="1">
                <a:solidFill>
                  <a:srgbClr val="0F172A"/>
                </a:solidFill>
                <a:latin typeface="Arial"/>
              </a:rPr>
              <a:t>• </a:t>
            </a:r>
            <a:r>
              <a:rPr sz="1100">
                <a:solidFill>
                  <a:srgbClr val="0F172A"/>
                </a:solidFill>
                <a:latin typeface="Arial"/>
              </a:rPr>
              <a:t>Host Organization: KNW PRO Realtor</a:t>
            </a:r>
          </a:p>
          <a:p>
            <a:pPr>
              <a:lnSpc>
                <a:spcPct val="120000"/>
              </a:lnSpc>
              <a:spcBef>
                <a:spcPts val="400"/>
              </a:spcBef>
              <a:spcAft>
                <a:spcPts val="400"/>
              </a:spcAft>
            </a:pPr>
            <a:r>
              <a:rPr sz="1100" b="1">
                <a:solidFill>
                  <a:srgbClr val="0F172A"/>
                </a:solidFill>
                <a:latin typeface="Arial"/>
              </a:rPr>
              <a:t>• </a:t>
            </a:r>
            <a:r>
              <a:rPr sz="1100">
                <a:solidFill>
                  <a:srgbClr val="0F172A"/>
                </a:solidFill>
                <a:latin typeface="Arial"/>
              </a:rPr>
              <a:t>Sri Lankan Property Market Challenges</a:t>
            </a:r>
          </a:p>
          <a:p>
            <a:pPr>
              <a:lnSpc>
                <a:spcPct val="120000"/>
              </a:lnSpc>
              <a:spcBef>
                <a:spcPts val="400"/>
              </a:spcBef>
              <a:spcAft>
                <a:spcPts val="400"/>
              </a:spcAft>
            </a:pPr>
            <a:r>
              <a:rPr sz="1100" b="1">
                <a:solidFill>
                  <a:srgbClr val="0F172A"/>
                </a:solidFill>
                <a:latin typeface="Arial"/>
              </a:rPr>
              <a:t>• </a:t>
            </a:r>
            <a:r>
              <a:rPr sz="1100">
                <a:solidFill>
                  <a:srgbClr val="0F172A"/>
                </a:solidFill>
                <a:latin typeface="Arial"/>
              </a:rPr>
              <a:t>Title Deed Insecurity &amp; Fraud Risks</a:t>
            </a:r>
          </a:p>
          <a:p>
            <a:pPr>
              <a:lnSpc>
                <a:spcPct val="120000"/>
              </a:lnSpc>
              <a:spcBef>
                <a:spcPts val="400"/>
              </a:spcBef>
              <a:spcAft>
                <a:spcPts val="400"/>
              </a:spcAft>
            </a:pPr>
            <a:r>
              <a:rPr sz="1100" b="1">
                <a:solidFill>
                  <a:srgbClr val="0F172A"/>
                </a:solidFill>
                <a:latin typeface="Arial"/>
              </a:rPr>
              <a:t>• </a:t>
            </a:r>
            <a:r>
              <a:rPr sz="1100">
                <a:solidFill>
                  <a:srgbClr val="0F172A"/>
                </a:solidFill>
                <a:latin typeface="Arial"/>
              </a:rPr>
              <a:t>Project Objectives &amp; Value Proposition</a:t>
            </a:r>
          </a:p>
        </p:txBody>
      </p:sp>
      <p:sp>
        <p:nvSpPr>
          <p:cNvPr id="6" name="Rounded Rectangle 5"/>
          <p:cNvSpPr/>
          <p:nvPr/>
        </p:nvSpPr>
        <p:spPr>
          <a:xfrm>
            <a:off x="6217920" y="1645920"/>
            <a:ext cx="5212080" cy="219456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0F172A"/>
                </a:solidFill>
                <a:latin typeface="Arial"/>
              </a:defRPr>
            </a:pPr>
            <a:r>
              <a:t>02. Architectural Design</a:t>
            </a:r>
          </a:p>
          <a:p>
            <a:pPr>
              <a:lnSpc>
                <a:spcPct val="120000"/>
              </a:lnSpc>
              <a:spcBef>
                <a:spcPts val="400"/>
              </a:spcBef>
              <a:spcAft>
                <a:spcPts val="400"/>
              </a:spcAft>
            </a:pPr>
            <a:r>
              <a:rPr sz="1100" b="1">
                <a:solidFill>
                  <a:srgbClr val="0F172A"/>
                </a:solidFill>
                <a:latin typeface="Arial"/>
              </a:rPr>
              <a:t>• </a:t>
            </a:r>
            <a:r>
              <a:rPr sz="1100">
                <a:solidFill>
                  <a:srgbClr val="0F172A"/>
                </a:solidFill>
                <a:latin typeface="Arial"/>
              </a:rPr>
              <a:t>Decoupled 3-Tier Architecture</a:t>
            </a:r>
          </a:p>
          <a:p>
            <a:pPr>
              <a:lnSpc>
                <a:spcPct val="120000"/>
              </a:lnSpc>
              <a:spcBef>
                <a:spcPts val="400"/>
              </a:spcBef>
              <a:spcAft>
                <a:spcPts val="400"/>
              </a:spcAft>
            </a:pPr>
            <a:r>
              <a:rPr sz="1100" b="1">
                <a:solidFill>
                  <a:srgbClr val="0F172A"/>
                </a:solidFill>
                <a:latin typeface="Arial"/>
              </a:rPr>
              <a:t>• </a:t>
            </a:r>
            <a:r>
              <a:rPr sz="1100">
                <a:solidFill>
                  <a:srgbClr val="0F172A"/>
                </a:solidFill>
                <a:latin typeface="Arial"/>
              </a:rPr>
              <a:t>Frontend: React 18, Vite &amp; Context APIs</a:t>
            </a:r>
          </a:p>
          <a:p>
            <a:pPr>
              <a:lnSpc>
                <a:spcPct val="120000"/>
              </a:lnSpc>
              <a:spcBef>
                <a:spcPts val="400"/>
              </a:spcBef>
              <a:spcAft>
                <a:spcPts val="400"/>
              </a:spcAft>
            </a:pPr>
            <a:r>
              <a:rPr sz="1100" b="1">
                <a:solidFill>
                  <a:srgbClr val="0F172A"/>
                </a:solidFill>
                <a:latin typeface="Arial"/>
              </a:rPr>
              <a:t>• </a:t>
            </a:r>
            <a:r>
              <a:rPr sz="1100">
                <a:solidFill>
                  <a:srgbClr val="0F172A"/>
                </a:solidFill>
                <a:latin typeface="Arial"/>
              </a:rPr>
              <a:t>Backend: PHP 8.4 &amp; Laravel 13 REST API</a:t>
            </a:r>
          </a:p>
          <a:p>
            <a:pPr>
              <a:lnSpc>
                <a:spcPct val="120000"/>
              </a:lnSpc>
              <a:spcBef>
                <a:spcPts val="400"/>
              </a:spcBef>
              <a:spcAft>
                <a:spcPts val="400"/>
              </a:spcAft>
            </a:pPr>
            <a:r>
              <a:rPr sz="1100" b="1">
                <a:solidFill>
                  <a:srgbClr val="0F172A"/>
                </a:solidFill>
                <a:latin typeface="Arial"/>
              </a:rPr>
              <a:t>• </a:t>
            </a:r>
            <a:r>
              <a:rPr sz="1100">
                <a:solidFill>
                  <a:srgbClr val="0F172A"/>
                </a:solidFill>
                <a:latin typeface="Arial"/>
              </a:rPr>
              <a:t>Database: MySQL 3NF Relational Model</a:t>
            </a:r>
          </a:p>
        </p:txBody>
      </p:sp>
      <p:sp>
        <p:nvSpPr>
          <p:cNvPr id="7" name="Rounded Rectangle 6"/>
          <p:cNvSpPr/>
          <p:nvPr/>
        </p:nvSpPr>
        <p:spPr>
          <a:xfrm>
            <a:off x="731520" y="4023360"/>
            <a:ext cx="5212080" cy="219456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0F172A"/>
                </a:solidFill>
                <a:latin typeface="Arial"/>
              </a:defRPr>
            </a:pPr>
            <a:r>
              <a:t>03. Key Innovations &amp; Modules</a:t>
            </a:r>
          </a:p>
          <a:p>
            <a:pPr>
              <a:lnSpc>
                <a:spcPct val="120000"/>
              </a:lnSpc>
              <a:spcBef>
                <a:spcPts val="400"/>
              </a:spcBef>
              <a:spcAft>
                <a:spcPts val="400"/>
              </a:spcAft>
            </a:pPr>
            <a:r>
              <a:rPr sz="1100" b="1">
                <a:solidFill>
                  <a:srgbClr val="0F172A"/>
                </a:solidFill>
                <a:latin typeface="Arial"/>
              </a:rPr>
              <a:t>• </a:t>
            </a:r>
            <a:r>
              <a:rPr sz="1100">
                <a:solidFill>
                  <a:srgbClr val="0F172A"/>
                </a:solidFill>
                <a:latin typeface="Arial"/>
              </a:rPr>
              <a:t>Unified Single-Account Dynamic Role Switcher</a:t>
            </a:r>
          </a:p>
          <a:p>
            <a:pPr>
              <a:lnSpc>
                <a:spcPct val="120000"/>
              </a:lnSpc>
              <a:spcBef>
                <a:spcPts val="400"/>
              </a:spcBef>
              <a:spcAft>
                <a:spcPts val="400"/>
              </a:spcAft>
            </a:pPr>
            <a:r>
              <a:rPr sz="1100" b="1">
                <a:solidFill>
                  <a:srgbClr val="0F172A"/>
                </a:solidFill>
                <a:latin typeface="Arial"/>
              </a:rPr>
              <a:t>• </a:t>
            </a:r>
            <a:r>
              <a:rPr sz="1100">
                <a:solidFill>
                  <a:srgbClr val="0F172A"/>
                </a:solidFill>
                <a:latin typeface="Arial"/>
              </a:rPr>
              <a:t>5-Step Property Intake &amp; Pricing Estimator</a:t>
            </a:r>
          </a:p>
          <a:p>
            <a:pPr>
              <a:lnSpc>
                <a:spcPct val="120000"/>
              </a:lnSpc>
              <a:spcBef>
                <a:spcPts val="400"/>
              </a:spcBef>
              <a:spcAft>
                <a:spcPts val="400"/>
              </a:spcAft>
            </a:pPr>
            <a:r>
              <a:rPr sz="1100" b="1">
                <a:solidFill>
                  <a:srgbClr val="0F172A"/>
                </a:solidFill>
                <a:latin typeface="Arial"/>
              </a:rPr>
              <a:t>• </a:t>
            </a:r>
            <a:r>
              <a:rPr sz="1100">
                <a:solidFill>
                  <a:srgbClr val="0F172A"/>
                </a:solidFill>
                <a:latin typeface="Arial"/>
              </a:rPr>
              <a:t>LegalTech Deed Review &amp; Lawyer Scheduling</a:t>
            </a:r>
          </a:p>
          <a:p>
            <a:pPr>
              <a:lnSpc>
                <a:spcPct val="120000"/>
              </a:lnSpc>
              <a:spcBef>
                <a:spcPts val="400"/>
              </a:spcBef>
              <a:spcAft>
                <a:spcPts val="400"/>
              </a:spcAft>
            </a:pPr>
            <a:r>
              <a:rPr sz="1100" b="1">
                <a:solidFill>
                  <a:srgbClr val="0F172A"/>
                </a:solidFill>
                <a:latin typeface="Arial"/>
              </a:rPr>
              <a:t>• </a:t>
            </a:r>
            <a:r>
              <a:rPr sz="1100">
                <a:solidFill>
                  <a:srgbClr val="0F172A"/>
                </a:solidFill>
                <a:latin typeface="Arial"/>
              </a:rPr>
              <a:t>Admin Moderation &amp; PayHere Integration</a:t>
            </a:r>
          </a:p>
        </p:txBody>
      </p:sp>
      <p:sp>
        <p:nvSpPr>
          <p:cNvPr id="8" name="Rounded Rectangle 7"/>
          <p:cNvSpPr/>
          <p:nvPr/>
        </p:nvSpPr>
        <p:spPr>
          <a:xfrm>
            <a:off x="6217920" y="4023360"/>
            <a:ext cx="5212080" cy="219456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0F172A"/>
                </a:solidFill>
                <a:latin typeface="Arial"/>
              </a:defRPr>
            </a:pPr>
            <a:r>
              <a:t>04. Engineering &amp; Evaluation</a:t>
            </a:r>
          </a:p>
          <a:p>
            <a:pPr>
              <a:lnSpc>
                <a:spcPct val="120000"/>
              </a:lnSpc>
              <a:spcBef>
                <a:spcPts val="400"/>
              </a:spcBef>
              <a:spcAft>
                <a:spcPts val="400"/>
              </a:spcAft>
            </a:pPr>
            <a:r>
              <a:rPr sz="1100" b="1">
                <a:solidFill>
                  <a:srgbClr val="0F172A"/>
                </a:solidFill>
                <a:latin typeface="Arial"/>
              </a:rPr>
              <a:t>• </a:t>
            </a:r>
            <a:r>
              <a:rPr sz="1100">
                <a:solidFill>
                  <a:srgbClr val="0F172A"/>
                </a:solidFill>
                <a:latin typeface="Arial"/>
              </a:rPr>
              <a:t>Agile Scrum &amp; GitFlow Collaboration</a:t>
            </a:r>
          </a:p>
          <a:p>
            <a:pPr>
              <a:lnSpc>
                <a:spcPct val="120000"/>
              </a:lnSpc>
              <a:spcBef>
                <a:spcPts val="400"/>
              </a:spcBef>
              <a:spcAft>
                <a:spcPts val="400"/>
              </a:spcAft>
            </a:pPr>
            <a:r>
              <a:rPr sz="1100" b="1">
                <a:solidFill>
                  <a:srgbClr val="0F172A"/>
                </a:solidFill>
                <a:latin typeface="Arial"/>
              </a:rPr>
              <a:t>• </a:t>
            </a:r>
            <a:r>
              <a:rPr sz="1100">
                <a:solidFill>
                  <a:srgbClr val="0F172A"/>
                </a:solidFill>
                <a:latin typeface="Arial"/>
              </a:rPr>
              <a:t>Multi-Tier Testing &amp; Security Hardening</a:t>
            </a:r>
          </a:p>
          <a:p>
            <a:pPr>
              <a:lnSpc>
                <a:spcPct val="120000"/>
              </a:lnSpc>
              <a:spcBef>
                <a:spcPts val="400"/>
              </a:spcBef>
              <a:spcAft>
                <a:spcPts val="400"/>
              </a:spcAft>
            </a:pPr>
            <a:r>
              <a:rPr sz="1100" b="1">
                <a:solidFill>
                  <a:srgbClr val="0F172A"/>
                </a:solidFill>
                <a:latin typeface="Arial"/>
              </a:rPr>
              <a:t>• </a:t>
            </a:r>
            <a:r>
              <a:rPr sz="1100">
                <a:solidFill>
                  <a:srgbClr val="0F172A"/>
                </a:solidFill>
                <a:latin typeface="Arial"/>
              </a:rPr>
              <a:t>Technical Challenges &amp; Solutions</a:t>
            </a:r>
          </a:p>
          <a:p>
            <a:pPr>
              <a:lnSpc>
                <a:spcPct val="120000"/>
              </a:lnSpc>
              <a:spcBef>
                <a:spcPts val="400"/>
              </a:spcBef>
              <a:spcAft>
                <a:spcPts val="400"/>
              </a:spcAft>
            </a:pPr>
            <a:r>
              <a:rPr sz="1100" b="1">
                <a:solidFill>
                  <a:srgbClr val="0F172A"/>
                </a:solidFill>
                <a:latin typeface="Arial"/>
              </a:rPr>
              <a:t>• </a:t>
            </a:r>
            <a:r>
              <a:rPr sz="1100">
                <a:solidFill>
                  <a:srgbClr val="0F172A"/>
                </a:solidFill>
                <a:latin typeface="Arial"/>
              </a:rPr>
              <a:t>Competencies Gained &amp; Future Scalability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100" b="1">
                <a:solidFill>
                  <a:srgbClr val="059669"/>
                </a:solidFill>
                <a:latin typeface="Arial"/>
              </a:defRPr>
            </a:pPr>
            <a:r>
              <a:t>HOST ENTERPRISE</a:t>
            </a:r>
          </a:p>
        </p:txBody>
      </p:sp>
      <p:sp>
        <p:nvSpPr>
          <p:cNvPr id="4" name="TextBox 3"/>
          <p:cNvSpPr txBox="1"/>
          <p:nvPr/>
        </p:nvSpPr>
        <p:spPr>
          <a:xfrm>
            <a:off x="731520" y="777240"/>
            <a:ext cx="10698480" cy="731520"/>
          </a:xfrm>
          <a:prstGeom prst="rect">
            <a:avLst/>
          </a:prstGeom>
          <a:noFill/>
        </p:spPr>
        <p:txBody>
          <a:bodyPr wrap="square">
            <a:spAutoFit/>
          </a:bodyPr>
          <a:lstStyle/>
          <a:p>
            <a:pPr>
              <a:defRPr sz="2400" b="1">
                <a:solidFill>
                  <a:srgbClr val="0F172A"/>
                </a:solidFill>
                <a:latin typeface="Arial"/>
              </a:defRPr>
            </a:pPr>
            <a:r>
              <a:t>KNW PRO Realtor (Private) Limited</a:t>
            </a:r>
          </a:p>
        </p:txBody>
      </p:sp>
      <p:sp>
        <p:nvSpPr>
          <p:cNvPr id="5" name="Rounded Rectangle 4"/>
          <p:cNvSpPr/>
          <p:nvPr/>
        </p:nvSpPr>
        <p:spPr>
          <a:xfrm>
            <a:off x="731520" y="1645920"/>
            <a:ext cx="5212080" cy="466344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0F172A"/>
                </a:solidFill>
                <a:latin typeface="Arial"/>
              </a:defRPr>
            </a:pPr>
            <a:r>
              <a:t>Corporate Profile &amp; Operations</a:t>
            </a:r>
          </a:p>
          <a:p>
            <a:pPr>
              <a:lnSpc>
                <a:spcPct val="120000"/>
              </a:lnSpc>
              <a:spcBef>
                <a:spcPts val="400"/>
              </a:spcBef>
              <a:spcAft>
                <a:spcPts val="400"/>
              </a:spcAft>
            </a:pPr>
            <a:r>
              <a:rPr sz="1100" b="1">
                <a:solidFill>
                  <a:srgbClr val="059669"/>
                </a:solidFill>
                <a:latin typeface="Arial"/>
              </a:rPr>
              <a:t>• Enterprise Identity: </a:t>
            </a:r>
            <a:r>
              <a:rPr sz="1100">
                <a:solidFill>
                  <a:srgbClr val="0F172A"/>
                </a:solidFill>
                <a:latin typeface="Arial"/>
              </a:rPr>
              <a:t>Premier real estate brokerage, property consultancy, and land sales enterprise headquartered in Colombo, Sri Lanka.</a:t>
            </a:r>
          </a:p>
          <a:p>
            <a:pPr>
              <a:lnSpc>
                <a:spcPct val="120000"/>
              </a:lnSpc>
              <a:spcBef>
                <a:spcPts val="400"/>
              </a:spcBef>
              <a:spcAft>
                <a:spcPts val="400"/>
              </a:spcAft>
            </a:pPr>
            <a:r>
              <a:rPr sz="1100" b="1">
                <a:solidFill>
                  <a:srgbClr val="059669"/>
                </a:solidFill>
                <a:latin typeface="Arial"/>
              </a:rPr>
              <a:t>• Market Reach: </a:t>
            </a:r>
            <a:r>
              <a:rPr sz="1100">
                <a:solidFill>
                  <a:srgbClr val="0F172A"/>
                </a:solidFill>
                <a:latin typeface="Arial"/>
              </a:rPr>
              <a:t>Active across Western, Central, and Southern Provinces managing residential homes, commercial complexes, and subdivided land plots.</a:t>
            </a:r>
          </a:p>
          <a:p>
            <a:pPr>
              <a:lnSpc>
                <a:spcPct val="120000"/>
              </a:lnSpc>
              <a:spcBef>
                <a:spcPts val="400"/>
              </a:spcBef>
              <a:spcAft>
                <a:spcPts val="400"/>
              </a:spcAft>
            </a:pPr>
            <a:r>
              <a:rPr sz="1100" b="1">
                <a:solidFill>
                  <a:srgbClr val="059669"/>
                </a:solidFill>
                <a:latin typeface="Arial"/>
              </a:rPr>
              <a:t>• Core Services: </a:t>
            </a:r>
            <a:r>
              <a:rPr sz="1100">
                <a:solidFill>
                  <a:srgbClr val="0F172A"/>
                </a:solidFill>
                <a:latin typeface="Arial"/>
              </a:rPr>
              <a:t>Real estate sales &amp; acquisitions, land demarcation &amp; appraisal, legal deed verification coordination, and property investment consulting.</a:t>
            </a:r>
          </a:p>
          <a:p>
            <a:pPr>
              <a:lnSpc>
                <a:spcPct val="120000"/>
              </a:lnSpc>
              <a:spcBef>
                <a:spcPts val="400"/>
              </a:spcBef>
              <a:spcAft>
                <a:spcPts val="400"/>
              </a:spcAft>
            </a:pPr>
            <a:r>
              <a:rPr sz="1100" b="1">
                <a:solidFill>
                  <a:srgbClr val="059669"/>
                </a:solidFill>
                <a:latin typeface="Arial"/>
              </a:rPr>
              <a:t>• Digital Modernization: </a:t>
            </a:r>
            <a:r>
              <a:rPr sz="1100">
                <a:solidFill>
                  <a:srgbClr val="0F172A"/>
                </a:solidFill>
                <a:latin typeface="Arial"/>
              </a:rPr>
              <a:t>Established an in-house IT &amp; Digital Systems Department to pioneer secure, fraud-resilient property tech solutions.</a:t>
            </a:r>
          </a:p>
        </p:txBody>
      </p:sp>
      <p:sp>
        <p:nvSpPr>
          <p:cNvPr id="6" name="Rounded Rectangle 5"/>
          <p:cNvSpPr/>
          <p:nvPr/>
        </p:nvSpPr>
        <p:spPr>
          <a:xfrm>
            <a:off x="6217920" y="1645920"/>
            <a:ext cx="5212080" cy="466344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0F172A"/>
                </a:solidFill>
                <a:latin typeface="Arial"/>
              </a:defRPr>
            </a:pPr>
            <a:r>
              <a:t>IT &amp; Digital Systems Division (Placement)</a:t>
            </a:r>
          </a:p>
          <a:p>
            <a:pPr>
              <a:lnSpc>
                <a:spcPct val="120000"/>
              </a:lnSpc>
              <a:spcBef>
                <a:spcPts val="400"/>
              </a:spcBef>
              <a:spcAft>
                <a:spcPts val="400"/>
              </a:spcAft>
            </a:pPr>
            <a:r>
              <a:rPr sz="1100" b="1">
                <a:solidFill>
                  <a:srgbClr val="059669"/>
                </a:solidFill>
                <a:latin typeface="Arial"/>
              </a:rPr>
              <a:t>• Department Mission: </a:t>
            </a:r>
            <a:r>
              <a:rPr sz="1100">
                <a:solidFill>
                  <a:srgbClr val="0F172A"/>
                </a:solidFill>
                <a:latin typeface="Arial"/>
              </a:rPr>
              <a:t>Engineering proprietary cloud platforms, internal databases, digital document vaults, and client portals.</a:t>
            </a:r>
          </a:p>
          <a:p>
            <a:pPr>
              <a:lnSpc>
                <a:spcPct val="120000"/>
              </a:lnSpc>
              <a:spcBef>
                <a:spcPts val="400"/>
              </a:spcBef>
              <a:spcAft>
                <a:spcPts val="400"/>
              </a:spcAft>
            </a:pPr>
            <a:r>
              <a:rPr sz="1100" b="1">
                <a:solidFill>
                  <a:srgbClr val="059669"/>
                </a:solidFill>
                <a:latin typeface="Arial"/>
              </a:rPr>
              <a:t>• Trainee's Role: </a:t>
            </a:r>
            <a:r>
              <a:rPr sz="1100">
                <a:solidFill>
                  <a:srgbClr val="0F172A"/>
                </a:solidFill>
                <a:latin typeface="Arial"/>
              </a:rPr>
              <a:t>Software Engineering Intern actively embedded in full-stack feature development, API architecture, and database design.</a:t>
            </a:r>
          </a:p>
          <a:p>
            <a:pPr>
              <a:lnSpc>
                <a:spcPct val="120000"/>
              </a:lnSpc>
              <a:spcBef>
                <a:spcPts val="400"/>
              </a:spcBef>
              <a:spcAft>
                <a:spcPts val="400"/>
              </a:spcAft>
            </a:pPr>
            <a:r>
              <a:rPr sz="1100" b="1">
                <a:solidFill>
                  <a:srgbClr val="059669"/>
                </a:solidFill>
                <a:latin typeface="Arial"/>
              </a:rPr>
              <a:t>• Working Culture: </a:t>
            </a:r>
            <a:r>
              <a:rPr sz="1100">
                <a:solidFill>
                  <a:srgbClr val="0F172A"/>
                </a:solidFill>
                <a:latin typeface="Arial"/>
              </a:rPr>
              <a:t>Agile Scrum framework, 2-week sprint cycles, daily standups (09:30 AM), GitFlow peer code reviews.</a:t>
            </a:r>
          </a:p>
          <a:p>
            <a:pPr>
              <a:lnSpc>
                <a:spcPct val="120000"/>
              </a:lnSpc>
              <a:spcBef>
                <a:spcPts val="400"/>
              </a:spcBef>
              <a:spcAft>
                <a:spcPts val="400"/>
              </a:spcAft>
            </a:pPr>
            <a:r>
              <a:rPr sz="1100" b="1">
                <a:solidFill>
                  <a:srgbClr val="059669"/>
                </a:solidFill>
                <a:latin typeface="Arial"/>
              </a:rPr>
              <a:t>• Interdisciplinary Exposure: </a:t>
            </a:r>
            <a:r>
              <a:rPr sz="1100">
                <a:solidFill>
                  <a:srgbClr val="0F172A"/>
                </a:solidFill>
                <a:latin typeface="Arial"/>
              </a:rPr>
              <a:t>Direct collaborative engagement with senior developers, licensed conveyancing attorneys, and real estate brokers.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100" b="1">
                <a:solidFill>
                  <a:srgbClr val="059669"/>
                </a:solidFill>
                <a:latin typeface="Arial"/>
              </a:defRPr>
            </a:pPr>
            <a:r>
              <a:t>PROBLEM STATEMENT</a:t>
            </a:r>
          </a:p>
        </p:txBody>
      </p:sp>
      <p:sp>
        <p:nvSpPr>
          <p:cNvPr id="4" name="TextBox 3"/>
          <p:cNvSpPr txBox="1"/>
          <p:nvPr/>
        </p:nvSpPr>
        <p:spPr>
          <a:xfrm>
            <a:off x="731520" y="777240"/>
            <a:ext cx="10698480" cy="731520"/>
          </a:xfrm>
          <a:prstGeom prst="rect">
            <a:avLst/>
          </a:prstGeom>
          <a:noFill/>
        </p:spPr>
        <p:txBody>
          <a:bodyPr wrap="square">
            <a:spAutoFit/>
          </a:bodyPr>
          <a:lstStyle/>
          <a:p>
            <a:pPr>
              <a:defRPr sz="2400" b="1">
                <a:solidFill>
                  <a:srgbClr val="0F172A"/>
                </a:solidFill>
                <a:latin typeface="Arial"/>
              </a:defRPr>
            </a:pPr>
            <a:r>
              <a:t>Critical Bottlenecks in the Sri Lankan Property Market</a:t>
            </a:r>
          </a:p>
        </p:txBody>
      </p:sp>
      <p:sp>
        <p:nvSpPr>
          <p:cNvPr id="5" name="Rounded Rectangle 4"/>
          <p:cNvSpPr/>
          <p:nvPr/>
        </p:nvSpPr>
        <p:spPr>
          <a:xfrm>
            <a:off x="731520" y="1645920"/>
            <a:ext cx="10698480" cy="1371600"/>
          </a:xfrm>
          <a:prstGeom prst="roundRect">
            <a:avLst/>
          </a:prstGeom>
          <a:solidFill>
            <a:srgbClr val="FFFFFF"/>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0F172A"/>
                </a:solidFill>
                <a:latin typeface="Arial"/>
              </a:defRPr>
            </a:pPr>
            <a:r>
              <a:t>1. Title Deed Fraud &amp; Bogus Listings</a:t>
            </a:r>
          </a:p>
          <a:p>
            <a:pPr>
              <a:lnSpc>
                <a:spcPct val="120000"/>
              </a:lnSpc>
              <a:spcBef>
                <a:spcPts val="400"/>
              </a:spcBef>
              <a:spcAft>
                <a:spcPts val="400"/>
              </a:spcAft>
            </a:pPr>
            <a:r>
              <a:rPr sz="1100" b="1">
                <a:solidFill>
                  <a:srgbClr val="059669"/>
                </a:solidFill>
                <a:latin typeface="Arial"/>
              </a:rPr>
              <a:t>• Impact &amp; Challenge: </a:t>
            </a:r>
            <a:r>
              <a:rPr sz="1100">
                <a:solidFill>
                  <a:srgbClr val="0F172A"/>
                </a:solidFill>
                <a:latin typeface="Arial"/>
              </a:rPr>
              <a:t>Unregistered middlemen and unauthorized third parties advertise land they do not own. Buyers risk losing life savings on properties burdened by undisclosed encumbrances, fake deeds, or local council boundary disputes.</a:t>
            </a:r>
          </a:p>
        </p:txBody>
      </p:sp>
      <p:sp>
        <p:nvSpPr>
          <p:cNvPr id="6" name="Rounded Rectangle 5"/>
          <p:cNvSpPr/>
          <p:nvPr/>
        </p:nvSpPr>
        <p:spPr>
          <a:xfrm>
            <a:off x="731520" y="3200400"/>
            <a:ext cx="10698480" cy="137160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0F172A"/>
                </a:solidFill>
                <a:latin typeface="Arial"/>
              </a:defRPr>
            </a:pPr>
            <a:r>
              <a:t>2. Total Absence of Pre-Listing Legal Screening</a:t>
            </a:r>
          </a:p>
          <a:p>
            <a:pPr>
              <a:lnSpc>
                <a:spcPct val="120000"/>
              </a:lnSpc>
              <a:spcBef>
                <a:spcPts val="400"/>
              </a:spcBef>
              <a:spcAft>
                <a:spcPts val="400"/>
              </a:spcAft>
            </a:pPr>
            <a:r>
              <a:rPr sz="1100" b="1">
                <a:solidFill>
                  <a:srgbClr val="059669"/>
                </a:solidFill>
                <a:latin typeface="Arial"/>
              </a:rPr>
              <a:t>• Impact &amp; Challenge: </a:t>
            </a:r>
            <a:r>
              <a:rPr sz="1100">
                <a:solidFill>
                  <a:srgbClr val="0F172A"/>
                </a:solidFill>
                <a:latin typeface="Arial"/>
              </a:rPr>
              <a:t>Conventional property websites merely publish unvetted photos and phone numbers. Prospective buyers discover major legal defects only after paying earnest money deposits and hiring private lawyers.</a:t>
            </a:r>
          </a:p>
        </p:txBody>
      </p:sp>
      <p:sp>
        <p:nvSpPr>
          <p:cNvPr id="7" name="Rounded Rectangle 6"/>
          <p:cNvSpPr/>
          <p:nvPr/>
        </p:nvSpPr>
        <p:spPr>
          <a:xfrm>
            <a:off x="731520" y="4754880"/>
            <a:ext cx="10698480" cy="137160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0F172A"/>
                </a:solidFill>
                <a:latin typeface="Arial"/>
              </a:defRPr>
            </a:pPr>
            <a:r>
              <a:t>3. Rigid Multi-Account Registration Friction</a:t>
            </a:r>
          </a:p>
          <a:p>
            <a:pPr>
              <a:lnSpc>
                <a:spcPct val="120000"/>
              </a:lnSpc>
              <a:spcBef>
                <a:spcPts val="400"/>
              </a:spcBef>
              <a:spcAft>
                <a:spcPts val="400"/>
              </a:spcAft>
            </a:pPr>
            <a:r>
              <a:rPr sz="1100" b="1">
                <a:solidFill>
                  <a:srgbClr val="059669"/>
                </a:solidFill>
                <a:latin typeface="Arial"/>
              </a:rPr>
              <a:t>• Impact &amp; Challenge: </a:t>
            </a:r>
            <a:r>
              <a:rPr sz="1100">
                <a:solidFill>
                  <a:srgbClr val="0F172A"/>
                </a:solidFill>
                <a:latin typeface="Arial"/>
              </a:rPr>
              <a:t>Existing software architectures assign a single immutable role per email. When an active property buyer wants to sell a house, the system blocks them, demanding logout and registration with a completely separate second email.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100" b="1">
                <a:solidFill>
                  <a:srgbClr val="059669"/>
                </a:solidFill>
                <a:latin typeface="Arial"/>
              </a:defRPr>
            </a:pPr>
            <a:r>
              <a:t>THE SOLUTION</a:t>
            </a:r>
          </a:p>
        </p:txBody>
      </p:sp>
      <p:sp>
        <p:nvSpPr>
          <p:cNvPr id="4" name="TextBox 3"/>
          <p:cNvSpPr txBox="1"/>
          <p:nvPr/>
        </p:nvSpPr>
        <p:spPr>
          <a:xfrm>
            <a:off x="731520" y="777240"/>
            <a:ext cx="10698480" cy="731520"/>
          </a:xfrm>
          <a:prstGeom prst="rect">
            <a:avLst/>
          </a:prstGeom>
          <a:noFill/>
        </p:spPr>
        <p:txBody>
          <a:bodyPr wrap="square">
            <a:spAutoFit/>
          </a:bodyPr>
          <a:lstStyle/>
          <a:p>
            <a:pPr>
              <a:defRPr sz="2400" b="1">
                <a:solidFill>
                  <a:srgbClr val="0F172A"/>
                </a:solidFill>
                <a:latin typeface="Arial"/>
              </a:defRPr>
            </a:pPr>
            <a:r>
              <a:t>KNW PRO Realtor: Digital Property &amp; Legal Advisory Platform</a:t>
            </a:r>
          </a:p>
        </p:txBody>
      </p:sp>
      <p:sp>
        <p:nvSpPr>
          <p:cNvPr id="5" name="Rounded Rectangle 4"/>
          <p:cNvSpPr/>
          <p:nvPr/>
        </p:nvSpPr>
        <p:spPr>
          <a:xfrm>
            <a:off x="731520" y="1645920"/>
            <a:ext cx="3383280" cy="219456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0F172A"/>
                </a:solidFill>
                <a:latin typeface="Arial"/>
              </a:defRPr>
            </a:pPr>
            <a:r>
              <a:t>Unified Single Identity</a:t>
            </a:r>
          </a:p>
          <a:p>
            <a:pPr>
              <a:lnSpc>
                <a:spcPct val="120000"/>
              </a:lnSpc>
              <a:spcBef>
                <a:spcPts val="400"/>
              </a:spcBef>
              <a:spcAft>
                <a:spcPts val="400"/>
              </a:spcAft>
            </a:pPr>
            <a:r>
              <a:rPr sz="1050" b="1">
                <a:solidFill>
                  <a:srgbClr val="0F172A"/>
                </a:solidFill>
                <a:latin typeface="Arial"/>
              </a:rPr>
              <a:t>• </a:t>
            </a:r>
            <a:r>
              <a:rPr sz="1050">
                <a:solidFill>
                  <a:srgbClr val="0F172A"/>
                </a:solidFill>
                <a:latin typeface="Arial"/>
              </a:rPr>
              <a:t>One user account for life. Dynamic role switching between Buyer, Seller, and Lawyer modes with in-place NIC verification and zero session loss.</a:t>
            </a:r>
          </a:p>
        </p:txBody>
      </p:sp>
      <p:sp>
        <p:nvSpPr>
          <p:cNvPr id="6" name="Rounded Rectangle 5"/>
          <p:cNvSpPr/>
          <p:nvPr/>
        </p:nvSpPr>
        <p:spPr>
          <a:xfrm>
            <a:off x="4389120" y="1645920"/>
            <a:ext cx="3383280" cy="219456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0F172A"/>
                </a:solidFill>
                <a:latin typeface="Arial"/>
              </a:defRPr>
            </a:pPr>
            <a:r>
              <a:t>Legal Verification Guarantee</a:t>
            </a:r>
          </a:p>
          <a:p>
            <a:pPr>
              <a:lnSpc>
                <a:spcPct val="120000"/>
              </a:lnSpc>
              <a:spcBef>
                <a:spcPts val="400"/>
              </a:spcBef>
              <a:spcAft>
                <a:spcPts val="400"/>
              </a:spcAft>
            </a:pPr>
            <a:r>
              <a:rPr sz="1050" b="1">
                <a:solidFill>
                  <a:srgbClr val="0F172A"/>
                </a:solidFill>
                <a:latin typeface="Arial"/>
              </a:rPr>
              <a:t>• </a:t>
            </a:r>
            <a:r>
              <a:rPr sz="1050">
                <a:solidFill>
                  <a:srgbClr val="0F172A"/>
                </a:solidFill>
                <a:latin typeface="Arial"/>
              </a:rPr>
              <a:t>Direct integration with licensed attorneys-at-law who audit Land Registry extracts, survey plans, and assign verified certification badges.</a:t>
            </a:r>
          </a:p>
        </p:txBody>
      </p:sp>
      <p:sp>
        <p:nvSpPr>
          <p:cNvPr id="7" name="Rounded Rectangle 6"/>
          <p:cNvSpPr/>
          <p:nvPr/>
        </p:nvSpPr>
        <p:spPr>
          <a:xfrm>
            <a:off x="8046720" y="1645920"/>
            <a:ext cx="3383280" cy="219456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0F172A"/>
                </a:solidFill>
                <a:latin typeface="Arial"/>
              </a:defRPr>
            </a:pPr>
            <a:r>
              <a:t>Multi-Step Listing Intake</a:t>
            </a:r>
          </a:p>
          <a:p>
            <a:pPr>
              <a:lnSpc>
                <a:spcPct val="120000"/>
              </a:lnSpc>
              <a:spcBef>
                <a:spcPts val="400"/>
              </a:spcBef>
              <a:spcAft>
                <a:spcPts val="400"/>
              </a:spcAft>
            </a:pPr>
            <a:r>
              <a:rPr sz="1050" b="1">
                <a:solidFill>
                  <a:srgbClr val="0F172A"/>
                </a:solidFill>
                <a:latin typeface="Arial"/>
              </a:rPr>
              <a:t>• </a:t>
            </a:r>
            <a:r>
              <a:rPr sz="1050">
                <a:solidFill>
                  <a:srgbClr val="0F172A"/>
                </a:solidFill>
                <a:latin typeface="Arial"/>
              </a:rPr>
              <a:t>Comprehensive 5-step property wizard capturing location coordinates, specs, high-res photos, title deeds, and automated price valuation estimation.</a:t>
            </a:r>
          </a:p>
        </p:txBody>
      </p:sp>
      <p:sp>
        <p:nvSpPr>
          <p:cNvPr id="8" name="Rounded Rectangle 7"/>
          <p:cNvSpPr/>
          <p:nvPr/>
        </p:nvSpPr>
        <p:spPr>
          <a:xfrm>
            <a:off x="731520" y="4023360"/>
            <a:ext cx="3383280" cy="219456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0F172A"/>
                </a:solidFill>
                <a:latin typeface="Arial"/>
              </a:defRPr>
            </a:pPr>
            <a:r>
              <a:t>Buyer Engagement Hub</a:t>
            </a:r>
          </a:p>
          <a:p>
            <a:pPr>
              <a:lnSpc>
                <a:spcPct val="120000"/>
              </a:lnSpc>
              <a:spcBef>
                <a:spcPts val="400"/>
              </a:spcBef>
              <a:spcAft>
                <a:spcPts val="400"/>
              </a:spcAft>
            </a:pPr>
            <a:r>
              <a:rPr sz="1050" b="1">
                <a:solidFill>
                  <a:srgbClr val="0F172A"/>
                </a:solidFill>
                <a:latin typeface="Arial"/>
              </a:rPr>
              <a:t>• </a:t>
            </a:r>
            <a:r>
              <a:rPr sz="1050">
                <a:solidFill>
                  <a:srgbClr val="0F172A"/>
                </a:solidFill>
                <a:latin typeface="Arial"/>
              </a:rPr>
              <a:t>Personalized property bookmarks, custom user inspection notes, one-click printable property dossiers, and direct physical site visit booking.</a:t>
            </a:r>
          </a:p>
        </p:txBody>
      </p:sp>
      <p:sp>
        <p:nvSpPr>
          <p:cNvPr id="9" name="Rounded Rectangle 8"/>
          <p:cNvSpPr/>
          <p:nvPr/>
        </p:nvSpPr>
        <p:spPr>
          <a:xfrm>
            <a:off x="4389120" y="4023360"/>
            <a:ext cx="3383280" cy="219456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0F172A"/>
                </a:solidFill>
                <a:latin typeface="Arial"/>
              </a:defRPr>
            </a:pPr>
            <a:r>
              <a:t>Legal Consultation Portal</a:t>
            </a:r>
          </a:p>
          <a:p>
            <a:pPr>
              <a:lnSpc>
                <a:spcPct val="120000"/>
              </a:lnSpc>
              <a:spcBef>
                <a:spcPts val="400"/>
              </a:spcBef>
              <a:spcAft>
                <a:spcPts val="400"/>
              </a:spcAft>
            </a:pPr>
            <a:r>
              <a:rPr sz="1050" b="1">
                <a:solidFill>
                  <a:srgbClr val="0F172A"/>
                </a:solidFill>
                <a:latin typeface="Arial"/>
              </a:rPr>
              <a:t>• </a:t>
            </a:r>
            <a:r>
              <a:rPr sz="1050">
                <a:solidFill>
                  <a:srgbClr val="0F172A"/>
                </a:solidFill>
                <a:latin typeface="Arial"/>
              </a:rPr>
              <a:t>Browse verified property attorneys, select calendar slots, book video consultations, and download RFC-compliant iCalendar (.ics) invite files.</a:t>
            </a:r>
          </a:p>
        </p:txBody>
      </p:sp>
      <p:sp>
        <p:nvSpPr>
          <p:cNvPr id="10" name="Rounded Rectangle 9"/>
          <p:cNvSpPr/>
          <p:nvPr/>
        </p:nvSpPr>
        <p:spPr>
          <a:xfrm>
            <a:off x="8046720" y="4023360"/>
            <a:ext cx="3383280" cy="219456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0F172A"/>
                </a:solidFill>
                <a:latin typeface="Arial"/>
              </a:defRPr>
            </a:pPr>
            <a:r>
              <a:t>Admin Governance &amp; Auditing</a:t>
            </a:r>
          </a:p>
          <a:p>
            <a:pPr>
              <a:lnSpc>
                <a:spcPct val="120000"/>
              </a:lnSpc>
              <a:spcBef>
                <a:spcPts val="400"/>
              </a:spcBef>
              <a:spcAft>
                <a:spcPts val="400"/>
              </a:spcAft>
            </a:pPr>
            <a:r>
              <a:rPr sz="1050" b="1">
                <a:solidFill>
                  <a:srgbClr val="0F172A"/>
                </a:solidFill>
                <a:latin typeface="Arial"/>
              </a:rPr>
              <a:t>• </a:t>
            </a:r>
            <a:r>
              <a:rPr sz="1050">
                <a:solidFill>
                  <a:srgbClr val="0F172A"/>
                </a:solidFill>
                <a:latin typeface="Arial"/>
              </a:rPr>
              <a:t>Centralized moderation dashboard for National Identity Card approval, payment receipt reconciliation, and listing quality control.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100" b="1">
                <a:solidFill>
                  <a:srgbClr val="059669"/>
                </a:solidFill>
                <a:latin typeface="Arial"/>
              </a:defRPr>
            </a:pPr>
            <a:r>
              <a:t>SYSTEM ARCHITECTURE</a:t>
            </a:r>
          </a:p>
        </p:txBody>
      </p:sp>
      <p:sp>
        <p:nvSpPr>
          <p:cNvPr id="4" name="TextBox 3"/>
          <p:cNvSpPr txBox="1"/>
          <p:nvPr/>
        </p:nvSpPr>
        <p:spPr>
          <a:xfrm>
            <a:off x="731520" y="777240"/>
            <a:ext cx="10698480" cy="731520"/>
          </a:xfrm>
          <a:prstGeom prst="rect">
            <a:avLst/>
          </a:prstGeom>
          <a:noFill/>
        </p:spPr>
        <p:txBody>
          <a:bodyPr wrap="square">
            <a:spAutoFit/>
          </a:bodyPr>
          <a:lstStyle/>
          <a:p>
            <a:pPr>
              <a:defRPr sz="2400" b="1">
                <a:solidFill>
                  <a:srgbClr val="0F172A"/>
                </a:solidFill>
                <a:latin typeface="Arial"/>
              </a:defRPr>
            </a:pPr>
            <a:r>
              <a:t>Decoupled 3-Tier Client-Server Architecture</a:t>
            </a:r>
          </a:p>
        </p:txBody>
      </p:sp>
      <p:sp>
        <p:nvSpPr>
          <p:cNvPr id="5" name="Rounded Rectangle 4"/>
          <p:cNvSpPr/>
          <p:nvPr/>
        </p:nvSpPr>
        <p:spPr>
          <a:xfrm>
            <a:off x="731520" y="1645920"/>
            <a:ext cx="3383280" cy="466344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0F172A"/>
                </a:solidFill>
                <a:latin typeface="Arial"/>
              </a:defRPr>
            </a:pPr>
            <a:r>
              <a:t>Tier 1: Client Application (SPA)</a:t>
            </a:r>
          </a:p>
          <a:p>
            <a:pPr>
              <a:lnSpc>
                <a:spcPct val="120000"/>
              </a:lnSpc>
              <a:spcBef>
                <a:spcPts val="400"/>
              </a:spcBef>
              <a:spcAft>
                <a:spcPts val="400"/>
              </a:spcAft>
            </a:pPr>
            <a:r>
              <a:rPr sz="1100" b="1">
                <a:solidFill>
                  <a:srgbClr val="0F172A"/>
                </a:solidFill>
                <a:latin typeface="Arial"/>
              </a:rPr>
              <a:t>• </a:t>
            </a:r>
            <a:r>
              <a:rPr sz="1100">
                <a:solidFill>
                  <a:srgbClr val="0F172A"/>
                </a:solidFill>
                <a:latin typeface="Arial"/>
              </a:rPr>
              <a:t>Technology: React 18, Vite Bundler, Modern CSS3</a:t>
            </a:r>
          </a:p>
          <a:p>
            <a:pPr>
              <a:lnSpc>
                <a:spcPct val="120000"/>
              </a:lnSpc>
              <a:spcBef>
                <a:spcPts val="400"/>
              </a:spcBef>
              <a:spcAft>
                <a:spcPts val="400"/>
              </a:spcAft>
            </a:pPr>
            <a:r>
              <a:rPr sz="1100" b="1">
                <a:solidFill>
                  <a:srgbClr val="0F172A"/>
                </a:solidFill>
                <a:latin typeface="Arial"/>
              </a:rPr>
              <a:t>• </a:t>
            </a:r>
            <a:r>
              <a:rPr sz="1100">
                <a:solidFill>
                  <a:srgbClr val="0F172A"/>
                </a:solidFill>
                <a:latin typeface="Arial"/>
              </a:rPr>
              <a:t>Single Page Application with fast client-side routing</a:t>
            </a:r>
          </a:p>
          <a:p>
            <a:pPr>
              <a:lnSpc>
                <a:spcPct val="120000"/>
              </a:lnSpc>
              <a:spcBef>
                <a:spcPts val="400"/>
              </a:spcBef>
              <a:spcAft>
                <a:spcPts val="400"/>
              </a:spcAft>
            </a:pPr>
            <a:r>
              <a:rPr sz="1100" b="1">
                <a:solidFill>
                  <a:srgbClr val="0F172A"/>
                </a:solidFill>
                <a:latin typeface="Arial"/>
              </a:rPr>
              <a:t>• </a:t>
            </a:r>
            <a:r>
              <a:rPr sz="1100">
                <a:solidFill>
                  <a:srgbClr val="0F172A"/>
                </a:solidFill>
                <a:latin typeface="Arial"/>
              </a:rPr>
              <a:t>Context State: AuthContext, LanguageContext, CurrencyContext</a:t>
            </a:r>
          </a:p>
          <a:p>
            <a:pPr>
              <a:lnSpc>
                <a:spcPct val="120000"/>
              </a:lnSpc>
              <a:spcBef>
                <a:spcPts val="400"/>
              </a:spcBef>
              <a:spcAft>
                <a:spcPts val="400"/>
              </a:spcAft>
            </a:pPr>
            <a:r>
              <a:rPr sz="1100" b="1">
                <a:solidFill>
                  <a:srgbClr val="0F172A"/>
                </a:solidFill>
                <a:latin typeface="Arial"/>
              </a:rPr>
              <a:t>• </a:t>
            </a:r>
            <a:r>
              <a:rPr sz="1100">
                <a:solidFill>
                  <a:srgbClr val="0F172A"/>
                </a:solidFill>
                <a:latin typeface="Arial"/>
              </a:rPr>
              <a:t>Asynchronous HTTP communication via Axios with interceptors</a:t>
            </a:r>
          </a:p>
          <a:p>
            <a:pPr>
              <a:lnSpc>
                <a:spcPct val="120000"/>
              </a:lnSpc>
              <a:spcBef>
                <a:spcPts val="400"/>
              </a:spcBef>
              <a:spcAft>
                <a:spcPts val="400"/>
              </a:spcAft>
            </a:pPr>
            <a:r>
              <a:rPr sz="1100" b="1">
                <a:solidFill>
                  <a:srgbClr val="0F172A"/>
                </a:solidFill>
                <a:latin typeface="Arial"/>
              </a:rPr>
              <a:t>• </a:t>
            </a:r>
            <a:r>
              <a:rPr sz="1100">
                <a:solidFill>
                  <a:srgbClr val="0F172A"/>
                </a:solidFill>
                <a:latin typeface="Arial"/>
              </a:rPr>
              <a:t>Responsive layout optimized for Mobile, Tablet, and Desktop</a:t>
            </a:r>
          </a:p>
        </p:txBody>
      </p:sp>
      <p:sp>
        <p:nvSpPr>
          <p:cNvPr id="6" name="Rounded Rectangle 5"/>
          <p:cNvSpPr/>
          <p:nvPr/>
        </p:nvSpPr>
        <p:spPr>
          <a:xfrm>
            <a:off x="4389120" y="1645920"/>
            <a:ext cx="3383280" cy="466344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0F172A"/>
                </a:solidFill>
                <a:latin typeface="Arial"/>
              </a:defRPr>
            </a:pPr>
            <a:r>
              <a:t>Tier 2: Business Logic &amp; REST API</a:t>
            </a:r>
          </a:p>
          <a:p>
            <a:pPr>
              <a:lnSpc>
                <a:spcPct val="120000"/>
              </a:lnSpc>
              <a:spcBef>
                <a:spcPts val="400"/>
              </a:spcBef>
              <a:spcAft>
                <a:spcPts val="400"/>
              </a:spcAft>
            </a:pPr>
            <a:r>
              <a:rPr sz="1100" b="1">
                <a:solidFill>
                  <a:srgbClr val="0F172A"/>
                </a:solidFill>
                <a:latin typeface="Arial"/>
              </a:rPr>
              <a:t>• </a:t>
            </a:r>
            <a:r>
              <a:rPr sz="1100">
                <a:solidFill>
                  <a:srgbClr val="0F172A"/>
                </a:solidFill>
                <a:latin typeface="Arial"/>
              </a:rPr>
              <a:t>Technology: PHP 8.4 on Laravel 13 Framework</a:t>
            </a:r>
          </a:p>
          <a:p>
            <a:pPr>
              <a:lnSpc>
                <a:spcPct val="120000"/>
              </a:lnSpc>
              <a:spcBef>
                <a:spcPts val="400"/>
              </a:spcBef>
              <a:spcAft>
                <a:spcPts val="400"/>
              </a:spcAft>
            </a:pPr>
            <a:r>
              <a:rPr sz="1100" b="1">
                <a:solidFill>
                  <a:srgbClr val="0F172A"/>
                </a:solidFill>
                <a:latin typeface="Arial"/>
              </a:rPr>
              <a:t>• </a:t>
            </a:r>
            <a:r>
              <a:rPr sz="1100">
                <a:solidFill>
                  <a:srgbClr val="0F172A"/>
                </a:solidFill>
                <a:latin typeface="Arial"/>
              </a:rPr>
              <a:t>Model-View-Controller (MVC) architectural pattern</a:t>
            </a:r>
          </a:p>
          <a:p>
            <a:pPr>
              <a:lnSpc>
                <a:spcPct val="120000"/>
              </a:lnSpc>
              <a:spcBef>
                <a:spcPts val="400"/>
              </a:spcBef>
              <a:spcAft>
                <a:spcPts val="400"/>
              </a:spcAft>
            </a:pPr>
            <a:r>
              <a:rPr sz="1100" b="1">
                <a:solidFill>
                  <a:srgbClr val="0F172A"/>
                </a:solidFill>
                <a:latin typeface="Arial"/>
              </a:rPr>
              <a:t>• </a:t>
            </a:r>
            <a:r>
              <a:rPr sz="1100">
                <a:solidFill>
                  <a:srgbClr val="0F172A"/>
                </a:solidFill>
                <a:latin typeface="Arial"/>
              </a:rPr>
              <a:t>RESTful JSON endpoints with FormRequest validation</a:t>
            </a:r>
          </a:p>
          <a:p>
            <a:pPr>
              <a:lnSpc>
                <a:spcPct val="120000"/>
              </a:lnSpc>
              <a:spcBef>
                <a:spcPts val="400"/>
              </a:spcBef>
              <a:spcAft>
                <a:spcPts val="400"/>
              </a:spcAft>
            </a:pPr>
            <a:r>
              <a:rPr sz="1100" b="1">
                <a:solidFill>
                  <a:srgbClr val="0F172A"/>
                </a:solidFill>
                <a:latin typeface="Arial"/>
              </a:rPr>
              <a:t>• </a:t>
            </a:r>
            <a:r>
              <a:rPr sz="1100">
                <a:solidFill>
                  <a:srgbClr val="0F172A"/>
                </a:solidFill>
                <a:latin typeface="Arial"/>
              </a:rPr>
              <a:t>Bcrypt cryptographic hashing (12 rounds) &amp; RBAC middleware</a:t>
            </a:r>
          </a:p>
          <a:p>
            <a:pPr>
              <a:lnSpc>
                <a:spcPct val="120000"/>
              </a:lnSpc>
              <a:spcBef>
                <a:spcPts val="400"/>
              </a:spcBef>
              <a:spcAft>
                <a:spcPts val="400"/>
              </a:spcAft>
            </a:pPr>
            <a:r>
              <a:rPr sz="1100" b="1">
                <a:solidFill>
                  <a:srgbClr val="0F172A"/>
                </a:solidFill>
                <a:latin typeface="Arial"/>
              </a:rPr>
              <a:t>• </a:t>
            </a:r>
            <a:r>
              <a:rPr sz="1100">
                <a:solidFill>
                  <a:srgbClr val="0F172A"/>
                </a:solidFill>
                <a:latin typeface="Arial"/>
              </a:rPr>
              <a:t>Private disk storage isolation for sensitive deeds &amp; NIC files</a:t>
            </a:r>
          </a:p>
        </p:txBody>
      </p:sp>
      <p:sp>
        <p:nvSpPr>
          <p:cNvPr id="7" name="Rounded Rectangle 6"/>
          <p:cNvSpPr/>
          <p:nvPr/>
        </p:nvSpPr>
        <p:spPr>
          <a:xfrm>
            <a:off x="8046720" y="1645920"/>
            <a:ext cx="3383280" cy="466344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0F172A"/>
                </a:solidFill>
                <a:latin typeface="Arial"/>
              </a:defRPr>
            </a:pPr>
            <a:r>
              <a:t>Tier 3: Relational Persistence</a:t>
            </a:r>
          </a:p>
          <a:p>
            <a:pPr>
              <a:lnSpc>
                <a:spcPct val="120000"/>
              </a:lnSpc>
              <a:spcBef>
                <a:spcPts val="400"/>
              </a:spcBef>
              <a:spcAft>
                <a:spcPts val="400"/>
              </a:spcAft>
            </a:pPr>
            <a:r>
              <a:rPr sz="1100" b="1">
                <a:solidFill>
                  <a:srgbClr val="0F172A"/>
                </a:solidFill>
                <a:latin typeface="Arial"/>
              </a:rPr>
              <a:t>• </a:t>
            </a:r>
            <a:r>
              <a:rPr sz="1100">
                <a:solidFill>
                  <a:srgbClr val="0F172A"/>
                </a:solidFill>
                <a:latin typeface="Arial"/>
              </a:rPr>
              <a:t>Technology: MySQL 8.0 Relational Database</a:t>
            </a:r>
          </a:p>
          <a:p>
            <a:pPr>
              <a:lnSpc>
                <a:spcPct val="120000"/>
              </a:lnSpc>
              <a:spcBef>
                <a:spcPts val="400"/>
              </a:spcBef>
              <a:spcAft>
                <a:spcPts val="400"/>
              </a:spcAft>
            </a:pPr>
            <a:r>
              <a:rPr sz="1100" b="1">
                <a:solidFill>
                  <a:srgbClr val="0F172A"/>
                </a:solidFill>
                <a:latin typeface="Arial"/>
              </a:rPr>
              <a:t>• </a:t>
            </a:r>
            <a:r>
              <a:rPr sz="1100">
                <a:solidFill>
                  <a:srgbClr val="0F172A"/>
                </a:solidFill>
                <a:latin typeface="Arial"/>
              </a:rPr>
              <a:t>Normalized up to Third Normal Form (3NF)</a:t>
            </a:r>
          </a:p>
          <a:p>
            <a:pPr>
              <a:lnSpc>
                <a:spcPct val="120000"/>
              </a:lnSpc>
              <a:spcBef>
                <a:spcPts val="400"/>
              </a:spcBef>
              <a:spcAft>
                <a:spcPts val="400"/>
              </a:spcAft>
            </a:pPr>
            <a:r>
              <a:rPr sz="1100" b="1">
                <a:solidFill>
                  <a:srgbClr val="0F172A"/>
                </a:solidFill>
                <a:latin typeface="Arial"/>
              </a:rPr>
              <a:t>• </a:t>
            </a:r>
            <a:r>
              <a:rPr sz="1100">
                <a:solidFill>
                  <a:srgbClr val="0F172A"/>
                </a:solidFill>
                <a:latin typeface="Arial"/>
              </a:rPr>
              <a:t>Eloquent ORM abstraction with strongly typed models</a:t>
            </a:r>
          </a:p>
          <a:p>
            <a:pPr>
              <a:lnSpc>
                <a:spcPct val="120000"/>
              </a:lnSpc>
              <a:spcBef>
                <a:spcPts val="400"/>
              </a:spcBef>
              <a:spcAft>
                <a:spcPts val="400"/>
              </a:spcAft>
            </a:pPr>
            <a:r>
              <a:rPr sz="1100" b="1">
                <a:solidFill>
                  <a:srgbClr val="0F172A"/>
                </a:solidFill>
                <a:latin typeface="Arial"/>
              </a:rPr>
              <a:t>• </a:t>
            </a:r>
            <a:r>
              <a:rPr sz="1100">
                <a:solidFill>
                  <a:srgbClr val="0F172A"/>
                </a:solidFill>
                <a:latin typeface="Arial"/>
              </a:rPr>
              <a:t>Version-controlled schema blueprints via Laravel Migrations</a:t>
            </a:r>
          </a:p>
          <a:p>
            <a:pPr>
              <a:lnSpc>
                <a:spcPct val="120000"/>
              </a:lnSpc>
              <a:spcBef>
                <a:spcPts val="400"/>
              </a:spcBef>
              <a:spcAft>
                <a:spcPts val="400"/>
              </a:spcAft>
            </a:pPr>
            <a:r>
              <a:rPr sz="1100" b="1">
                <a:solidFill>
                  <a:srgbClr val="0F172A"/>
                </a:solidFill>
                <a:latin typeface="Arial"/>
              </a:rPr>
              <a:t>• </a:t>
            </a:r>
            <a:r>
              <a:rPr sz="1100">
                <a:solidFill>
                  <a:srgbClr val="0F172A"/>
                </a:solidFill>
                <a:latin typeface="Arial"/>
              </a:rPr>
              <a:t>Composite indexing on district, price, and publication status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100" b="1">
                <a:solidFill>
                  <a:srgbClr val="059669"/>
                </a:solidFill>
                <a:latin typeface="Arial"/>
              </a:defRPr>
            </a:pPr>
            <a:r>
              <a:t>FRONTEND ARCHITECTURE</a:t>
            </a:r>
          </a:p>
        </p:txBody>
      </p:sp>
      <p:sp>
        <p:nvSpPr>
          <p:cNvPr id="4" name="TextBox 3"/>
          <p:cNvSpPr txBox="1"/>
          <p:nvPr/>
        </p:nvSpPr>
        <p:spPr>
          <a:xfrm>
            <a:off x="731520" y="777240"/>
            <a:ext cx="10698480" cy="731520"/>
          </a:xfrm>
          <a:prstGeom prst="rect">
            <a:avLst/>
          </a:prstGeom>
          <a:noFill/>
        </p:spPr>
        <p:txBody>
          <a:bodyPr wrap="square">
            <a:spAutoFit/>
          </a:bodyPr>
          <a:lstStyle/>
          <a:p>
            <a:pPr>
              <a:defRPr sz="2400" b="1">
                <a:solidFill>
                  <a:srgbClr val="0F172A"/>
                </a:solidFill>
                <a:latin typeface="Arial"/>
              </a:defRPr>
            </a:pPr>
            <a:r>
              <a:t>React 18 Component Hierarchy &amp; Global Context State</a:t>
            </a:r>
          </a:p>
        </p:txBody>
      </p:sp>
      <p:sp>
        <p:nvSpPr>
          <p:cNvPr id="5" name="Rounded Rectangle 4"/>
          <p:cNvSpPr/>
          <p:nvPr/>
        </p:nvSpPr>
        <p:spPr>
          <a:xfrm>
            <a:off x="731520" y="1645920"/>
            <a:ext cx="5212080" cy="466344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0F172A"/>
                </a:solidFill>
                <a:latin typeface="Arial"/>
              </a:defRPr>
            </a:pPr>
            <a:r>
              <a:t>Reactive Context Providers</a:t>
            </a:r>
          </a:p>
          <a:p>
            <a:pPr>
              <a:lnSpc>
                <a:spcPct val="120000"/>
              </a:lnSpc>
              <a:spcBef>
                <a:spcPts val="400"/>
              </a:spcBef>
              <a:spcAft>
                <a:spcPts val="400"/>
              </a:spcAft>
            </a:pPr>
            <a:r>
              <a:rPr sz="1100" b="1">
                <a:solidFill>
                  <a:srgbClr val="059669"/>
                </a:solidFill>
                <a:latin typeface="Arial"/>
              </a:rPr>
              <a:t>• AuthContext: </a:t>
            </a:r>
            <a:r>
              <a:rPr sz="1100">
                <a:solidFill>
                  <a:srgbClr val="0F172A"/>
                </a:solidFill>
                <a:latin typeface="Arial"/>
              </a:rPr>
              <a:t>Manages user identity, bearer tokens, capability claims (can.act_as_buyer, can.act_as_seller), and activeRole state switching.</a:t>
            </a:r>
          </a:p>
          <a:p>
            <a:pPr>
              <a:lnSpc>
                <a:spcPct val="120000"/>
              </a:lnSpc>
              <a:spcBef>
                <a:spcPts val="400"/>
              </a:spcBef>
              <a:spcAft>
                <a:spcPts val="400"/>
              </a:spcAft>
            </a:pPr>
            <a:r>
              <a:rPr sz="1100" b="1">
                <a:solidFill>
                  <a:srgbClr val="059669"/>
                </a:solidFill>
                <a:latin typeface="Arial"/>
              </a:rPr>
              <a:t>• LanguageContext: </a:t>
            </a:r>
            <a:r>
              <a:rPr sz="1100">
                <a:solidFill>
                  <a:srgbClr val="0F172A"/>
                </a:solidFill>
                <a:latin typeface="Arial"/>
              </a:rPr>
              <a:t>Trilingual internationalization (i18n) supporting English, Sinhala, and Tamil translations across all interface labels.</a:t>
            </a:r>
          </a:p>
          <a:p>
            <a:pPr>
              <a:lnSpc>
                <a:spcPct val="120000"/>
              </a:lnSpc>
              <a:spcBef>
                <a:spcPts val="400"/>
              </a:spcBef>
              <a:spcAft>
                <a:spcPts val="400"/>
              </a:spcAft>
            </a:pPr>
            <a:r>
              <a:rPr sz="1100" b="1">
                <a:solidFill>
                  <a:srgbClr val="059669"/>
                </a:solidFill>
                <a:latin typeface="Arial"/>
              </a:rPr>
              <a:t>• CurrencyContext: </a:t>
            </a:r>
            <a:r>
              <a:rPr sz="1100">
                <a:solidFill>
                  <a:srgbClr val="0F172A"/>
                </a:solidFill>
                <a:latin typeface="Arial"/>
              </a:rPr>
              <a:t>Real-time exchange conversion between Sri Lankan Rupees (LKR), USD, EUR, and GBP with localized symbol formatting.</a:t>
            </a:r>
          </a:p>
          <a:p>
            <a:pPr>
              <a:lnSpc>
                <a:spcPct val="120000"/>
              </a:lnSpc>
              <a:spcBef>
                <a:spcPts val="400"/>
              </a:spcBef>
              <a:spcAft>
                <a:spcPts val="400"/>
              </a:spcAft>
            </a:pPr>
            <a:r>
              <a:rPr sz="1100" b="1">
                <a:solidFill>
                  <a:srgbClr val="059669"/>
                </a:solidFill>
                <a:latin typeface="Arial"/>
              </a:rPr>
              <a:t>• Axios Interceptors: </a:t>
            </a:r>
            <a:r>
              <a:rPr sz="1100">
                <a:solidFill>
                  <a:srgbClr val="0F172A"/>
                </a:solidFill>
                <a:latin typeface="Arial"/>
              </a:rPr>
              <a:t>Centralized request header token attachment and global HTTP 401/403/422 error response interceptors.</a:t>
            </a:r>
          </a:p>
        </p:txBody>
      </p:sp>
      <p:sp>
        <p:nvSpPr>
          <p:cNvPr id="6" name="Rounded Rectangle 5"/>
          <p:cNvSpPr/>
          <p:nvPr/>
        </p:nvSpPr>
        <p:spPr>
          <a:xfrm>
            <a:off x="6217920" y="1645920"/>
            <a:ext cx="5212080" cy="466344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0F172A"/>
                </a:solidFill>
                <a:latin typeface="Arial"/>
              </a:defRPr>
            </a:pPr>
            <a:r>
              <a:t>Component-Driven UI Engineering</a:t>
            </a:r>
          </a:p>
          <a:p>
            <a:pPr>
              <a:lnSpc>
                <a:spcPct val="120000"/>
              </a:lnSpc>
              <a:spcBef>
                <a:spcPts val="400"/>
              </a:spcBef>
              <a:spcAft>
                <a:spcPts val="400"/>
              </a:spcAft>
            </a:pPr>
            <a:r>
              <a:rPr sz="1100" b="1">
                <a:solidFill>
                  <a:srgbClr val="059669"/>
                </a:solidFill>
                <a:latin typeface="Arial"/>
              </a:rPr>
              <a:t>• Modular Components: </a:t>
            </a:r>
            <a:r>
              <a:rPr sz="1100">
                <a:solidFill>
                  <a:srgbClr val="0F172A"/>
                </a:solidFill>
                <a:latin typeface="Arial"/>
              </a:rPr>
              <a:t>Over 25 reusable functional components: Navbar, PropertyCard, Modal, PriceEstimator, ScheduleVisitModal.</a:t>
            </a:r>
          </a:p>
          <a:p>
            <a:pPr>
              <a:lnSpc>
                <a:spcPct val="120000"/>
              </a:lnSpc>
              <a:spcBef>
                <a:spcPts val="400"/>
              </a:spcBef>
              <a:spcAft>
                <a:spcPts val="400"/>
              </a:spcAft>
            </a:pPr>
            <a:r>
              <a:rPr sz="1100" b="1">
                <a:solidFill>
                  <a:srgbClr val="059669"/>
                </a:solidFill>
                <a:latin typeface="Arial"/>
              </a:rPr>
              <a:t>• Debounced Live Search: </a:t>
            </a:r>
            <a:r>
              <a:rPr sz="1100">
                <a:solidFill>
                  <a:srgbClr val="0F172A"/>
                </a:solidFill>
                <a:latin typeface="Arial"/>
              </a:rPr>
              <a:t>Implemented 400ms debounce hook on marketplace search inputs, preventing excessive API roundtrips.</a:t>
            </a:r>
          </a:p>
          <a:p>
            <a:pPr>
              <a:lnSpc>
                <a:spcPct val="120000"/>
              </a:lnSpc>
              <a:spcBef>
                <a:spcPts val="400"/>
              </a:spcBef>
              <a:spcAft>
                <a:spcPts val="400"/>
              </a:spcAft>
            </a:pPr>
            <a:r>
              <a:rPr sz="1100" b="1">
                <a:solidFill>
                  <a:srgbClr val="059669"/>
                </a:solidFill>
                <a:latin typeface="Arial"/>
              </a:rPr>
              <a:t>• Form State Recovery: </a:t>
            </a:r>
            <a:r>
              <a:rPr sz="1100">
                <a:solidFill>
                  <a:srgbClr val="0F172A"/>
                </a:solidFill>
                <a:latin typeface="Arial"/>
              </a:rPr>
              <a:t>Lifting multi-step draft wizard state into centralized reducers with sessionStorage persistence.</a:t>
            </a:r>
          </a:p>
          <a:p>
            <a:pPr>
              <a:lnSpc>
                <a:spcPct val="120000"/>
              </a:lnSpc>
              <a:spcBef>
                <a:spcPts val="400"/>
              </a:spcBef>
              <a:spcAft>
                <a:spcPts val="400"/>
              </a:spcAft>
            </a:pPr>
            <a:r>
              <a:rPr sz="1100" b="1">
                <a:solidFill>
                  <a:srgbClr val="059669"/>
                </a:solidFill>
                <a:latin typeface="Arial"/>
              </a:rPr>
              <a:t>• CSS3 Design System: </a:t>
            </a:r>
            <a:r>
              <a:rPr sz="1100">
                <a:solidFill>
                  <a:srgbClr val="0F172A"/>
                </a:solidFill>
                <a:latin typeface="Arial"/>
              </a:rPr>
              <a:t>Strict design tokens using CSS variables, flexbox, and CSS grid layouts ensuring pixel-perfect responsiveness.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100" b="1">
                <a:solidFill>
                  <a:srgbClr val="059669"/>
                </a:solidFill>
                <a:latin typeface="Arial"/>
              </a:defRPr>
            </a:pPr>
            <a:r>
              <a:t>BACKEND ARCHITECTURE</a:t>
            </a:r>
          </a:p>
        </p:txBody>
      </p:sp>
      <p:sp>
        <p:nvSpPr>
          <p:cNvPr id="4" name="TextBox 3"/>
          <p:cNvSpPr txBox="1"/>
          <p:nvPr/>
        </p:nvSpPr>
        <p:spPr>
          <a:xfrm>
            <a:off x="731520" y="777240"/>
            <a:ext cx="10698480" cy="731520"/>
          </a:xfrm>
          <a:prstGeom prst="rect">
            <a:avLst/>
          </a:prstGeom>
          <a:noFill/>
        </p:spPr>
        <p:txBody>
          <a:bodyPr wrap="square">
            <a:spAutoFit/>
          </a:bodyPr>
          <a:lstStyle/>
          <a:p>
            <a:pPr>
              <a:defRPr sz="2400" b="1">
                <a:solidFill>
                  <a:srgbClr val="0F172A"/>
                </a:solidFill>
                <a:latin typeface="Arial"/>
              </a:defRPr>
            </a:pPr>
            <a:r>
              <a:t>Laravel 13 REST API &amp; Eloquent ORM Pipeline</a:t>
            </a:r>
          </a:p>
        </p:txBody>
      </p:sp>
      <p:sp>
        <p:nvSpPr>
          <p:cNvPr id="5" name="Rounded Rectangle 4"/>
          <p:cNvSpPr/>
          <p:nvPr/>
        </p:nvSpPr>
        <p:spPr>
          <a:xfrm>
            <a:off x="731520" y="1645920"/>
            <a:ext cx="5212080" cy="466344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0F172A"/>
                </a:solidFill>
                <a:latin typeface="Arial"/>
              </a:defRPr>
            </a:pPr>
            <a:r>
              <a:t>RESTful Controllers &amp; Routes</a:t>
            </a:r>
          </a:p>
          <a:p>
            <a:pPr>
              <a:lnSpc>
                <a:spcPct val="120000"/>
              </a:lnSpc>
              <a:spcBef>
                <a:spcPts val="400"/>
              </a:spcBef>
              <a:spcAft>
                <a:spcPts val="400"/>
              </a:spcAft>
            </a:pPr>
            <a:r>
              <a:rPr sz="1100" b="1">
                <a:solidFill>
                  <a:srgbClr val="059669"/>
                </a:solidFill>
                <a:latin typeface="Arial"/>
              </a:rPr>
              <a:t>• AuthController: </a:t>
            </a:r>
            <a:r>
              <a:rPr sz="1100">
                <a:solidFill>
                  <a:srgbClr val="0F172A"/>
                </a:solidFill>
                <a:latin typeface="Arial"/>
              </a:rPr>
              <a:t>Registration, credential authentication, user resource formatting, and in-place applyForSeller verification.</a:t>
            </a:r>
          </a:p>
          <a:p>
            <a:pPr>
              <a:lnSpc>
                <a:spcPct val="120000"/>
              </a:lnSpc>
              <a:spcBef>
                <a:spcPts val="400"/>
              </a:spcBef>
              <a:spcAft>
                <a:spcPts val="400"/>
              </a:spcAft>
            </a:pPr>
            <a:r>
              <a:rPr sz="1100" b="1">
                <a:solidFill>
                  <a:srgbClr val="059669"/>
                </a:solidFill>
                <a:latin typeface="Arial"/>
              </a:rPr>
              <a:t>• SellerPropertyDraftController: </a:t>
            </a:r>
            <a:r>
              <a:rPr sz="1100">
                <a:solidFill>
                  <a:srgbClr val="0F172A"/>
                </a:solidFill>
                <a:latin typeface="Arial"/>
              </a:rPr>
              <a:t>Multi-step draft intake, gallery upload streaming, and listing publication checks via $user-&gt;canListProperty().</a:t>
            </a:r>
          </a:p>
          <a:p>
            <a:pPr>
              <a:lnSpc>
                <a:spcPct val="120000"/>
              </a:lnSpc>
              <a:spcBef>
                <a:spcPts val="400"/>
              </a:spcBef>
              <a:spcAft>
                <a:spcPts val="400"/>
              </a:spcAft>
            </a:pPr>
            <a:r>
              <a:rPr sz="1100" b="1">
                <a:solidFill>
                  <a:srgbClr val="059669"/>
                </a:solidFill>
                <a:latin typeface="Arial"/>
              </a:rPr>
              <a:t>• LawyerController: </a:t>
            </a:r>
            <a:r>
              <a:rPr sz="1100">
                <a:solidFill>
                  <a:srgbClr val="0F172A"/>
                </a:solidFill>
                <a:latin typeface="Arial"/>
              </a:rPr>
              <a:t>Attorney profile management, weekly availability slot configuration, appointment booking, and deed review audits.</a:t>
            </a:r>
          </a:p>
          <a:p>
            <a:pPr>
              <a:lnSpc>
                <a:spcPct val="120000"/>
              </a:lnSpc>
              <a:spcBef>
                <a:spcPts val="400"/>
              </a:spcBef>
              <a:spcAft>
                <a:spcPts val="400"/>
              </a:spcAft>
            </a:pPr>
            <a:r>
              <a:rPr sz="1100" b="1">
                <a:solidFill>
                  <a:srgbClr val="059669"/>
                </a:solidFill>
                <a:latin typeface="Arial"/>
              </a:rPr>
              <a:t>• AdminUserController: </a:t>
            </a:r>
            <a:r>
              <a:rPr sz="1100">
                <a:solidFill>
                  <a:srgbClr val="0F172A"/>
                </a:solidFill>
                <a:latin typeface="Arial"/>
              </a:rPr>
              <a:t>Identity verification approval/rejection, property quality moderation, and system revenue analytics.</a:t>
            </a:r>
          </a:p>
        </p:txBody>
      </p:sp>
      <p:sp>
        <p:nvSpPr>
          <p:cNvPr id="6" name="Rounded Rectangle 5"/>
          <p:cNvSpPr/>
          <p:nvPr/>
        </p:nvSpPr>
        <p:spPr>
          <a:xfrm>
            <a:off x="6217920" y="1645920"/>
            <a:ext cx="5212080" cy="466344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0F172A"/>
                </a:solidFill>
                <a:latin typeface="Arial"/>
              </a:defRPr>
            </a:pPr>
            <a:r>
              <a:t>Database &amp; Security Pipeline</a:t>
            </a:r>
          </a:p>
          <a:p>
            <a:pPr>
              <a:lnSpc>
                <a:spcPct val="120000"/>
              </a:lnSpc>
              <a:spcBef>
                <a:spcPts val="400"/>
              </a:spcBef>
              <a:spcAft>
                <a:spcPts val="400"/>
              </a:spcAft>
            </a:pPr>
            <a:r>
              <a:rPr sz="1100" b="1">
                <a:solidFill>
                  <a:srgbClr val="059669"/>
                </a:solidFill>
                <a:latin typeface="Arial"/>
              </a:rPr>
              <a:t>• Eloquent ORM: </a:t>
            </a:r>
            <a:r>
              <a:rPr sz="1100">
                <a:solidFill>
                  <a:srgbClr val="0F172A"/>
                </a:solidFill>
                <a:latin typeface="Arial"/>
              </a:rPr>
              <a:t>Declarative relationships (hasMany, belongsTo) with eager-loading scopes to eliminate N+1 query performance hits.</a:t>
            </a:r>
          </a:p>
          <a:p>
            <a:pPr>
              <a:lnSpc>
                <a:spcPct val="120000"/>
              </a:lnSpc>
              <a:spcBef>
                <a:spcPts val="400"/>
              </a:spcBef>
              <a:spcAft>
                <a:spcPts val="400"/>
              </a:spcAft>
            </a:pPr>
            <a:r>
              <a:rPr sz="1100" b="1">
                <a:solidFill>
                  <a:srgbClr val="059669"/>
                </a:solidFill>
                <a:latin typeface="Arial"/>
              </a:rPr>
              <a:t>• Idempotent Migrations: </a:t>
            </a:r>
            <a:r>
              <a:rPr sz="1100">
                <a:solidFill>
                  <a:srgbClr val="0F172A"/>
                </a:solidFill>
                <a:latin typeface="Arial"/>
              </a:rPr>
              <a:t>Version-controlled schema blueprints enabling repeatable, automated database provisioning across environments.</a:t>
            </a:r>
          </a:p>
          <a:p>
            <a:pPr>
              <a:lnSpc>
                <a:spcPct val="120000"/>
              </a:lnSpc>
              <a:spcBef>
                <a:spcPts val="400"/>
              </a:spcBef>
              <a:spcAft>
                <a:spcPts val="400"/>
              </a:spcAft>
            </a:pPr>
            <a:r>
              <a:rPr sz="1100" b="1">
                <a:solidFill>
                  <a:srgbClr val="059669"/>
                </a:solidFill>
                <a:latin typeface="Arial"/>
              </a:rPr>
              <a:t>• Security Hardening: </a:t>
            </a:r>
            <a:r>
              <a:rPr sz="1100">
                <a:solidFill>
                  <a:srgbClr val="0F172A"/>
                </a:solidFill>
                <a:latin typeface="Arial"/>
              </a:rPr>
              <a:t>Bcrypt hashing with 12 rounds, CSRF token validation, and MIME-type validation on all uploaded files.</a:t>
            </a:r>
          </a:p>
          <a:p>
            <a:pPr>
              <a:lnSpc>
                <a:spcPct val="120000"/>
              </a:lnSpc>
              <a:spcBef>
                <a:spcPts val="400"/>
              </a:spcBef>
              <a:spcAft>
                <a:spcPts val="400"/>
              </a:spcAft>
            </a:pPr>
            <a:r>
              <a:rPr sz="1100" b="1">
                <a:solidFill>
                  <a:srgbClr val="059669"/>
                </a:solidFill>
                <a:latin typeface="Arial"/>
              </a:rPr>
              <a:t>• Private Storage Disk: </a:t>
            </a:r>
            <a:r>
              <a:rPr sz="1100">
                <a:solidFill>
                  <a:srgbClr val="0F172A"/>
                </a:solidFill>
                <a:latin typeface="Arial"/>
              </a:rPr>
              <a:t>Sensitive NIC documents and original title deeds are isolated from public web directories.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100" b="1">
                <a:solidFill>
                  <a:srgbClr val="059669"/>
                </a:solidFill>
                <a:latin typeface="Arial"/>
              </a:defRPr>
            </a:pPr>
            <a:r>
              <a:t>CORE INNOVATION</a:t>
            </a:r>
          </a:p>
        </p:txBody>
      </p:sp>
      <p:sp>
        <p:nvSpPr>
          <p:cNvPr id="4" name="TextBox 3"/>
          <p:cNvSpPr txBox="1"/>
          <p:nvPr/>
        </p:nvSpPr>
        <p:spPr>
          <a:xfrm>
            <a:off x="731520" y="777240"/>
            <a:ext cx="10698480" cy="731520"/>
          </a:xfrm>
          <a:prstGeom prst="rect">
            <a:avLst/>
          </a:prstGeom>
          <a:noFill/>
        </p:spPr>
        <p:txBody>
          <a:bodyPr wrap="square">
            <a:spAutoFit/>
          </a:bodyPr>
          <a:lstStyle/>
          <a:p>
            <a:pPr>
              <a:defRPr sz="2400" b="1">
                <a:solidFill>
                  <a:srgbClr val="0F172A"/>
                </a:solidFill>
                <a:latin typeface="Arial"/>
              </a:defRPr>
            </a:pPr>
            <a:r>
              <a:t>Unified Single-Account Dynamic Role-Switching Engine</a:t>
            </a:r>
          </a:p>
        </p:txBody>
      </p:sp>
      <p:sp>
        <p:nvSpPr>
          <p:cNvPr id="5" name="Rounded Rectangle 4"/>
          <p:cNvSpPr/>
          <p:nvPr/>
        </p:nvSpPr>
        <p:spPr>
          <a:xfrm>
            <a:off x="731520" y="1645920"/>
            <a:ext cx="5212080" cy="4663440"/>
          </a:xfrm>
          <a:prstGeom prst="roundRect">
            <a:avLst/>
          </a:prstGeom>
          <a:solidFill>
            <a:srgbClr val="FFFFFF"/>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0F172A"/>
                </a:solidFill>
                <a:latin typeface="Arial"/>
              </a:defRPr>
            </a:pPr>
            <a:r>
              <a:t>Legacy Multi-Account Flaw</a:t>
            </a:r>
          </a:p>
          <a:p>
            <a:pPr>
              <a:lnSpc>
                <a:spcPct val="120000"/>
              </a:lnSpc>
              <a:spcBef>
                <a:spcPts val="400"/>
              </a:spcBef>
              <a:spcAft>
                <a:spcPts val="400"/>
              </a:spcAft>
            </a:pPr>
            <a:r>
              <a:rPr sz="1100" b="1">
                <a:solidFill>
                  <a:srgbClr val="059669"/>
                </a:solidFill>
                <a:latin typeface="Arial"/>
              </a:rPr>
              <a:t>• Rigid Role Column: </a:t>
            </a:r>
            <a:r>
              <a:rPr sz="1100">
                <a:solidFill>
                  <a:srgbClr val="0F172A"/>
                </a:solidFill>
                <a:latin typeface="Arial"/>
              </a:rPr>
              <a:t>Users table held a static role enum ('buyer', 'seller', 'lawyer'). One email was permanently restricted to one role.</a:t>
            </a:r>
          </a:p>
          <a:p>
            <a:pPr>
              <a:lnSpc>
                <a:spcPct val="120000"/>
              </a:lnSpc>
              <a:spcBef>
                <a:spcPts val="400"/>
              </a:spcBef>
              <a:spcAft>
                <a:spcPts val="400"/>
              </a:spcAft>
            </a:pPr>
            <a:r>
              <a:rPr sz="1100" b="1">
                <a:solidFill>
                  <a:srgbClr val="059669"/>
                </a:solidFill>
                <a:latin typeface="Arial"/>
              </a:rPr>
              <a:t>• Registration Failure: </a:t>
            </a:r>
            <a:r>
              <a:rPr sz="1100">
                <a:solidFill>
                  <a:srgbClr val="0F172A"/>
                </a:solidFill>
                <a:latin typeface="Arial"/>
              </a:rPr>
              <a:t>When a buyer clicked 'Sell', system redirected to /register?role=seller, which failed due to duplicate email uniqueness.</a:t>
            </a:r>
          </a:p>
          <a:p>
            <a:pPr>
              <a:lnSpc>
                <a:spcPct val="120000"/>
              </a:lnSpc>
              <a:spcBef>
                <a:spcPts val="400"/>
              </a:spcBef>
              <a:spcAft>
                <a:spcPts val="400"/>
              </a:spcAft>
            </a:pPr>
            <a:r>
              <a:rPr sz="1100" b="1">
                <a:solidFill>
                  <a:srgbClr val="059669"/>
                </a:solidFill>
                <a:latin typeface="Arial"/>
              </a:rPr>
              <a:t>• Lawyer Isolation: </a:t>
            </a:r>
            <a:r>
              <a:rPr sz="1100">
                <a:solidFill>
                  <a:srgbClr val="0F172A"/>
                </a:solidFill>
                <a:latin typeface="Arial"/>
              </a:rPr>
              <a:t>Attorneys were locked inside LawyerDashboard and could not browse the marketplace or bookmark properties.</a:t>
            </a:r>
          </a:p>
          <a:p>
            <a:pPr>
              <a:lnSpc>
                <a:spcPct val="120000"/>
              </a:lnSpc>
              <a:spcBef>
                <a:spcPts val="400"/>
              </a:spcBef>
              <a:spcAft>
                <a:spcPts val="400"/>
              </a:spcAft>
            </a:pPr>
            <a:r>
              <a:rPr sz="1100" b="1">
                <a:solidFill>
                  <a:srgbClr val="059669"/>
                </a:solidFill>
                <a:latin typeface="Arial"/>
              </a:rPr>
              <a:t>• Poor User Experience: </a:t>
            </a:r>
            <a:r>
              <a:rPr sz="1100">
                <a:solidFill>
                  <a:srgbClr val="0F172A"/>
                </a:solidFill>
                <a:latin typeface="Arial"/>
              </a:rPr>
              <a:t>Users were forced to logout and login repeatedly using multiple different email credentials.</a:t>
            </a:r>
          </a:p>
        </p:txBody>
      </p:sp>
      <p:sp>
        <p:nvSpPr>
          <p:cNvPr id="6" name="Rounded Rectangle 5"/>
          <p:cNvSpPr/>
          <p:nvPr/>
        </p:nvSpPr>
        <p:spPr>
          <a:xfrm>
            <a:off x="6217920" y="1645920"/>
            <a:ext cx="5212080" cy="466344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0F172A"/>
                </a:solidFill>
                <a:latin typeface="Arial"/>
              </a:defRPr>
            </a:pPr>
            <a:r>
              <a:t>Newly Engineered Unified Architecture</a:t>
            </a:r>
          </a:p>
          <a:p>
            <a:pPr>
              <a:lnSpc>
                <a:spcPct val="120000"/>
              </a:lnSpc>
              <a:spcBef>
                <a:spcPts val="400"/>
              </a:spcBef>
              <a:spcAft>
                <a:spcPts val="400"/>
              </a:spcAft>
            </a:pPr>
            <a:r>
              <a:rPr sz="1100" b="1">
                <a:solidFill>
                  <a:srgbClr val="059669"/>
                </a:solidFill>
                <a:latin typeface="Arial"/>
              </a:rPr>
              <a:t>• Decoupled Seller Status: </a:t>
            </a:r>
            <a:r>
              <a:rPr sz="1100">
                <a:solidFill>
                  <a:srgbClr val="0F172A"/>
                </a:solidFill>
                <a:latin typeface="Arial"/>
              </a:rPr>
              <a:t>Added seller_status enum ('none', 'pending', 'active', 'rejected'), decoupling identity from selling rights.</a:t>
            </a:r>
          </a:p>
          <a:p>
            <a:pPr>
              <a:lnSpc>
                <a:spcPct val="120000"/>
              </a:lnSpc>
              <a:spcBef>
                <a:spcPts val="400"/>
              </a:spcBef>
              <a:spcAft>
                <a:spcPts val="400"/>
              </a:spcAft>
            </a:pPr>
            <a:r>
              <a:rPr sz="1100" b="1">
                <a:solidFill>
                  <a:srgbClr val="059669"/>
                </a:solidFill>
                <a:latin typeface="Arial"/>
              </a:rPr>
              <a:t>• In-Place Verification: </a:t>
            </a:r>
            <a:r>
              <a:rPr sz="1100">
                <a:solidFill>
                  <a:srgbClr val="0F172A"/>
                </a:solidFill>
                <a:latin typeface="Arial"/>
              </a:rPr>
              <a:t>Existing buyers submit NIC verification via POST /api/user/apply-seller directly from their active session.</a:t>
            </a:r>
          </a:p>
          <a:p>
            <a:pPr>
              <a:lnSpc>
                <a:spcPct val="120000"/>
              </a:lnSpc>
              <a:spcBef>
                <a:spcPts val="400"/>
              </a:spcBef>
              <a:spcAft>
                <a:spcPts val="400"/>
              </a:spcAft>
            </a:pPr>
            <a:r>
              <a:rPr sz="1100" b="1">
                <a:solidFill>
                  <a:srgbClr val="059669"/>
                </a:solidFill>
                <a:latin typeface="Arial"/>
              </a:rPr>
              <a:t>• Dynamic Capabilities: </a:t>
            </a:r>
            <a:r>
              <a:rPr sz="1100">
                <a:solidFill>
                  <a:srgbClr val="0F172A"/>
                </a:solidFill>
                <a:latin typeface="Arial"/>
              </a:rPr>
              <a:t>User resource returns boolean capability flags: act_as_buyer, act_as_seller, is_pending_seller, is_lawyer.</a:t>
            </a:r>
          </a:p>
          <a:p>
            <a:pPr>
              <a:lnSpc>
                <a:spcPct val="120000"/>
              </a:lnSpc>
              <a:spcBef>
                <a:spcPts val="400"/>
              </a:spcBef>
              <a:spcAft>
                <a:spcPts val="400"/>
              </a:spcAft>
            </a:pPr>
            <a:r>
              <a:rPr sz="1100" b="1">
                <a:solidFill>
                  <a:srgbClr val="059669"/>
                </a:solidFill>
                <a:latin typeface="Arial"/>
              </a:rPr>
              <a:t>• 1-Click Navbar Switcher: </a:t>
            </a:r>
            <a:r>
              <a:rPr sz="1100">
                <a:solidFill>
                  <a:srgbClr val="0F172A"/>
                </a:solidFill>
                <a:latin typeface="Arial"/>
              </a:rPr>
              <a:t>Interactive mode switcher pills in Navbar allow instant toggling between Buyer Mode, Seller Mode, and Lawyer Mode.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100" b="1">
                <a:solidFill>
                  <a:srgbClr val="059669"/>
                </a:solidFill>
                <a:latin typeface="Arial"/>
              </a:defRPr>
            </a:pPr>
            <a:r>
              <a:t>LEGALTECH INTEGRATION</a:t>
            </a:r>
          </a:p>
        </p:txBody>
      </p:sp>
      <p:sp>
        <p:nvSpPr>
          <p:cNvPr id="4" name="TextBox 3"/>
          <p:cNvSpPr txBox="1"/>
          <p:nvPr/>
        </p:nvSpPr>
        <p:spPr>
          <a:xfrm>
            <a:off x="731520" y="777240"/>
            <a:ext cx="10698480" cy="731520"/>
          </a:xfrm>
          <a:prstGeom prst="rect">
            <a:avLst/>
          </a:prstGeom>
          <a:noFill/>
        </p:spPr>
        <p:txBody>
          <a:bodyPr wrap="square">
            <a:spAutoFit/>
          </a:bodyPr>
          <a:lstStyle/>
          <a:p>
            <a:pPr>
              <a:defRPr sz="2400" b="1">
                <a:solidFill>
                  <a:srgbClr val="0F172A"/>
                </a:solidFill>
                <a:latin typeface="Arial"/>
              </a:defRPr>
            </a:pPr>
            <a:r>
              <a:t>Title Deed Verification &amp; Lawyer Consultation System</a:t>
            </a:r>
          </a:p>
        </p:txBody>
      </p:sp>
      <p:sp>
        <p:nvSpPr>
          <p:cNvPr id="5" name="Rounded Rectangle 4"/>
          <p:cNvSpPr/>
          <p:nvPr/>
        </p:nvSpPr>
        <p:spPr>
          <a:xfrm>
            <a:off x="731520" y="1645920"/>
            <a:ext cx="3383280" cy="219456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0F172A"/>
                </a:solidFill>
                <a:latin typeface="Arial"/>
              </a:defRPr>
            </a:pPr>
            <a:r>
              <a:t>Step 1: Document Submission</a:t>
            </a:r>
          </a:p>
          <a:p>
            <a:pPr>
              <a:lnSpc>
                <a:spcPct val="120000"/>
              </a:lnSpc>
              <a:spcBef>
                <a:spcPts val="400"/>
              </a:spcBef>
              <a:spcAft>
                <a:spcPts val="400"/>
              </a:spcAft>
            </a:pPr>
            <a:r>
              <a:rPr sz="1050" b="1">
                <a:solidFill>
                  <a:srgbClr val="0F172A"/>
                </a:solidFill>
                <a:latin typeface="Arial"/>
              </a:rPr>
              <a:t>• </a:t>
            </a:r>
            <a:r>
              <a:rPr sz="1050">
                <a:solidFill>
                  <a:srgbClr val="0F172A"/>
                </a:solidFill>
                <a:latin typeface="Arial"/>
              </a:rPr>
              <a:t>Seller uploads scanned property title deed, certified survey plan, and local authority street line clearance certificate during intake wizard.</a:t>
            </a:r>
          </a:p>
        </p:txBody>
      </p:sp>
      <p:sp>
        <p:nvSpPr>
          <p:cNvPr id="6" name="Rounded Rectangle 5"/>
          <p:cNvSpPr/>
          <p:nvPr/>
        </p:nvSpPr>
        <p:spPr>
          <a:xfrm>
            <a:off x="4389120" y="1645920"/>
            <a:ext cx="3383280" cy="219456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0F172A"/>
                </a:solidFill>
                <a:latin typeface="Arial"/>
              </a:defRPr>
            </a:pPr>
            <a:r>
              <a:t>Step 2: Attorney Deed Audit</a:t>
            </a:r>
          </a:p>
          <a:p>
            <a:pPr>
              <a:lnSpc>
                <a:spcPct val="120000"/>
              </a:lnSpc>
              <a:spcBef>
                <a:spcPts val="400"/>
              </a:spcBef>
              <a:spcAft>
                <a:spcPts val="400"/>
              </a:spcAft>
            </a:pPr>
            <a:r>
              <a:rPr sz="1050" b="1">
                <a:solidFill>
                  <a:srgbClr val="0F172A"/>
                </a:solidFill>
                <a:latin typeface="Arial"/>
              </a:rPr>
              <a:t>• </a:t>
            </a:r>
            <a:r>
              <a:rPr sz="1050">
                <a:solidFill>
                  <a:srgbClr val="0F172A"/>
                </a:solidFill>
                <a:latin typeface="Arial"/>
              </a:rPr>
              <a:t>Uploaded legal dossiers are routed to certified real estate attorneys-at-law who conduct Land Registry volume/folio extract verification.</a:t>
            </a:r>
          </a:p>
        </p:txBody>
      </p:sp>
      <p:sp>
        <p:nvSpPr>
          <p:cNvPr id="7" name="Rounded Rectangle 6"/>
          <p:cNvSpPr/>
          <p:nvPr/>
        </p:nvSpPr>
        <p:spPr>
          <a:xfrm>
            <a:off x="8046720" y="1645920"/>
            <a:ext cx="3383280" cy="219456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0F172A"/>
                </a:solidFill>
                <a:latin typeface="Arial"/>
              </a:defRPr>
            </a:pPr>
            <a:r>
              <a:t>Step 3: Verification Badging</a:t>
            </a:r>
          </a:p>
          <a:p>
            <a:pPr>
              <a:lnSpc>
                <a:spcPct val="120000"/>
              </a:lnSpc>
              <a:spcBef>
                <a:spcPts val="400"/>
              </a:spcBef>
              <a:spcAft>
                <a:spcPts val="400"/>
              </a:spcAft>
            </a:pPr>
            <a:r>
              <a:rPr sz="1050" b="1">
                <a:solidFill>
                  <a:srgbClr val="0F172A"/>
                </a:solidFill>
                <a:latin typeface="Arial"/>
              </a:rPr>
              <a:t>• </a:t>
            </a:r>
            <a:r>
              <a:rPr sz="1050">
                <a:solidFill>
                  <a:srgbClr val="0F172A"/>
                </a:solidFill>
                <a:latin typeface="Arial"/>
              </a:rPr>
              <a:t>Cleared properties earn the official 'KNW Certified Deed Verified' badge, signaling 100% legal title safety to prospective buyers.</a:t>
            </a:r>
          </a:p>
        </p:txBody>
      </p:sp>
      <p:sp>
        <p:nvSpPr>
          <p:cNvPr id="8" name="Rounded Rectangle 7"/>
          <p:cNvSpPr/>
          <p:nvPr/>
        </p:nvSpPr>
        <p:spPr>
          <a:xfrm>
            <a:off x="731520" y="4023360"/>
            <a:ext cx="3383280" cy="219456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0F172A"/>
                </a:solidFill>
                <a:latin typeface="Arial"/>
              </a:defRPr>
            </a:pPr>
            <a:r>
              <a:t>Step 4: Consultation Booking</a:t>
            </a:r>
          </a:p>
          <a:p>
            <a:pPr>
              <a:lnSpc>
                <a:spcPct val="120000"/>
              </a:lnSpc>
              <a:spcBef>
                <a:spcPts val="400"/>
              </a:spcBef>
              <a:spcAft>
                <a:spcPts val="400"/>
              </a:spcAft>
            </a:pPr>
            <a:r>
              <a:rPr sz="1050" b="1">
                <a:solidFill>
                  <a:srgbClr val="0F172A"/>
                </a:solidFill>
                <a:latin typeface="Arial"/>
              </a:rPr>
              <a:t>• </a:t>
            </a:r>
            <a:r>
              <a:rPr sz="1050">
                <a:solidFill>
                  <a:srgbClr val="0F172A"/>
                </a:solidFill>
                <a:latin typeface="Arial"/>
              </a:rPr>
              <a:t>Buyers can book direct video consultations with real estate lawyers to discuss deeds, boundary lines, and purchase agreements.</a:t>
            </a:r>
          </a:p>
        </p:txBody>
      </p:sp>
      <p:sp>
        <p:nvSpPr>
          <p:cNvPr id="9" name="Rounded Rectangle 8"/>
          <p:cNvSpPr/>
          <p:nvPr/>
        </p:nvSpPr>
        <p:spPr>
          <a:xfrm>
            <a:off x="4389120" y="4023360"/>
            <a:ext cx="3383280" cy="219456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0F172A"/>
                </a:solidFill>
                <a:latin typeface="Arial"/>
              </a:defRPr>
            </a:pPr>
            <a:r>
              <a:t>Step 5: Automated Scheduling</a:t>
            </a:r>
          </a:p>
          <a:p>
            <a:pPr>
              <a:lnSpc>
                <a:spcPct val="120000"/>
              </a:lnSpc>
              <a:spcBef>
                <a:spcPts val="400"/>
              </a:spcBef>
              <a:spcAft>
                <a:spcPts val="400"/>
              </a:spcAft>
            </a:pPr>
            <a:r>
              <a:rPr sz="1050" b="1">
                <a:solidFill>
                  <a:srgbClr val="0F172A"/>
                </a:solidFill>
                <a:latin typeface="Arial"/>
              </a:rPr>
              <a:t>• </a:t>
            </a:r>
            <a:r>
              <a:rPr sz="1050">
                <a:solidFill>
                  <a:srgbClr val="0F172A"/>
                </a:solidFill>
                <a:latin typeface="Arial"/>
              </a:rPr>
              <a:t>Platform generates RFC 5545 compliant iCalendar (.ics) invitations and dispatches automated email confirmations to both parties.</a:t>
            </a:r>
          </a:p>
        </p:txBody>
      </p:sp>
      <p:sp>
        <p:nvSpPr>
          <p:cNvPr id="10" name="Rounded Rectangle 9"/>
          <p:cNvSpPr/>
          <p:nvPr/>
        </p:nvSpPr>
        <p:spPr>
          <a:xfrm>
            <a:off x="8046720" y="4023360"/>
            <a:ext cx="3383280" cy="219456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0F172A"/>
                </a:solidFill>
                <a:latin typeface="Arial"/>
              </a:defRPr>
            </a:pPr>
            <a:r>
              <a:t>Step 6: Audit Trail Logging</a:t>
            </a:r>
          </a:p>
          <a:p>
            <a:pPr>
              <a:lnSpc>
                <a:spcPct val="120000"/>
              </a:lnSpc>
              <a:spcBef>
                <a:spcPts val="400"/>
              </a:spcBef>
              <a:spcAft>
                <a:spcPts val="400"/>
              </a:spcAft>
            </a:pPr>
            <a:r>
              <a:rPr sz="1050" b="1">
                <a:solidFill>
                  <a:srgbClr val="0F172A"/>
                </a:solidFill>
                <a:latin typeface="Arial"/>
              </a:rPr>
              <a:t>• </a:t>
            </a:r>
            <a:r>
              <a:rPr sz="1050">
                <a:solidFill>
                  <a:srgbClr val="0F172A"/>
                </a:solidFill>
                <a:latin typeface="Arial"/>
              </a:rPr>
              <a:t>Full legal audit history is permanently recorded in the database, ensuring complete transaction accountability.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100" b="1">
                <a:solidFill>
                  <a:srgbClr val="059669"/>
                </a:solidFill>
                <a:latin typeface="Arial"/>
              </a:defRPr>
            </a:pPr>
            <a:r>
              <a:t>COMMERCIAL OPERATIONS</a:t>
            </a:r>
          </a:p>
        </p:txBody>
      </p:sp>
      <p:sp>
        <p:nvSpPr>
          <p:cNvPr id="4" name="TextBox 3"/>
          <p:cNvSpPr txBox="1"/>
          <p:nvPr/>
        </p:nvSpPr>
        <p:spPr>
          <a:xfrm>
            <a:off x="731520" y="777240"/>
            <a:ext cx="10698480" cy="731520"/>
          </a:xfrm>
          <a:prstGeom prst="rect">
            <a:avLst/>
          </a:prstGeom>
          <a:noFill/>
        </p:spPr>
        <p:txBody>
          <a:bodyPr wrap="square">
            <a:spAutoFit/>
          </a:bodyPr>
          <a:lstStyle/>
          <a:p>
            <a:pPr>
              <a:defRPr sz="2400" b="1">
                <a:solidFill>
                  <a:srgbClr val="0F172A"/>
                </a:solidFill>
                <a:latin typeface="Arial"/>
              </a:defRPr>
            </a:pPr>
            <a:r>
              <a:t>Monetization Tiers, Inquiries &amp; Administrative Governance</a:t>
            </a:r>
          </a:p>
        </p:txBody>
      </p:sp>
      <p:sp>
        <p:nvSpPr>
          <p:cNvPr id="5" name="Rounded Rectangle 4"/>
          <p:cNvSpPr/>
          <p:nvPr/>
        </p:nvSpPr>
        <p:spPr>
          <a:xfrm>
            <a:off x="731520" y="1645920"/>
            <a:ext cx="5212080" cy="466344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0F172A"/>
                </a:solidFill>
                <a:latin typeface="Arial"/>
              </a:defRPr>
            </a:pPr>
            <a:r>
              <a:t>Monetization &amp; Inquiries</a:t>
            </a:r>
          </a:p>
          <a:p>
            <a:pPr>
              <a:lnSpc>
                <a:spcPct val="120000"/>
              </a:lnSpc>
              <a:spcBef>
                <a:spcPts val="400"/>
              </a:spcBef>
              <a:spcAft>
                <a:spcPts val="400"/>
              </a:spcAft>
            </a:pPr>
            <a:r>
              <a:rPr sz="1100" b="1">
                <a:solidFill>
                  <a:srgbClr val="059669"/>
                </a:solidFill>
                <a:latin typeface="Arial"/>
              </a:rPr>
              <a:t>• Listing Tiers: </a:t>
            </a:r>
            <a:r>
              <a:rPr sz="1100">
                <a:solidFill>
                  <a:srgbClr val="0F172A"/>
                </a:solidFill>
                <a:latin typeface="Arial"/>
              </a:rPr>
              <a:t>Basic (free 30-day listing), Verified (attorney deed review included), and Featured (homepage carousel &amp; priority search placement).</a:t>
            </a:r>
          </a:p>
          <a:p>
            <a:pPr>
              <a:lnSpc>
                <a:spcPct val="120000"/>
              </a:lnSpc>
              <a:spcBef>
                <a:spcPts val="400"/>
              </a:spcBef>
              <a:spcAft>
                <a:spcPts val="400"/>
              </a:spcAft>
            </a:pPr>
            <a:r>
              <a:rPr sz="1100" b="1">
                <a:solidFill>
                  <a:srgbClr val="059669"/>
                </a:solidFill>
                <a:latin typeface="Arial"/>
              </a:rPr>
              <a:t>• PayHere Gateway: </a:t>
            </a:r>
            <a:r>
              <a:rPr sz="1100">
                <a:solidFill>
                  <a:srgbClr val="0F172A"/>
                </a:solidFill>
                <a:latin typeface="Arial"/>
              </a:rPr>
              <a:t>Automated checkout with MD5 signature validation for instant card payments and merchant IPN callback processing.</a:t>
            </a:r>
          </a:p>
          <a:p>
            <a:pPr>
              <a:lnSpc>
                <a:spcPct val="120000"/>
              </a:lnSpc>
              <a:spcBef>
                <a:spcPts val="400"/>
              </a:spcBef>
              <a:spcAft>
                <a:spcPts val="400"/>
              </a:spcAft>
            </a:pPr>
            <a:r>
              <a:rPr sz="1100" b="1">
                <a:solidFill>
                  <a:srgbClr val="059669"/>
                </a:solidFill>
                <a:latin typeface="Arial"/>
              </a:rPr>
              <a:t>• Bank Deposit Fallback: </a:t>
            </a:r>
            <a:r>
              <a:rPr sz="1100">
                <a:solidFill>
                  <a:srgbClr val="0F172A"/>
                </a:solidFill>
                <a:latin typeface="Arial"/>
              </a:rPr>
              <a:t>Allows traditional sellers to upload bank deposit slips for manual administrative reconciliation.</a:t>
            </a:r>
          </a:p>
          <a:p>
            <a:pPr>
              <a:lnSpc>
                <a:spcPct val="120000"/>
              </a:lnSpc>
              <a:spcBef>
                <a:spcPts val="400"/>
              </a:spcBef>
              <a:spcAft>
                <a:spcPts val="400"/>
              </a:spcAft>
            </a:pPr>
            <a:r>
              <a:rPr sz="1100" b="1">
                <a:solidFill>
                  <a:srgbClr val="059669"/>
                </a:solidFill>
                <a:latin typeface="Arial"/>
              </a:rPr>
              <a:t>• Site Visit Inquiries: </a:t>
            </a:r>
            <a:r>
              <a:rPr sz="1100">
                <a:solidFill>
                  <a:srgbClr val="0F172A"/>
                </a:solidFill>
                <a:latin typeface="Arial"/>
              </a:rPr>
              <a:t>Buyers request physical inspection dates; sellers receive instant notifications to accept or propose alternative slots.</a:t>
            </a:r>
          </a:p>
        </p:txBody>
      </p:sp>
      <p:sp>
        <p:nvSpPr>
          <p:cNvPr id="6" name="Rounded Rectangle 5"/>
          <p:cNvSpPr/>
          <p:nvPr/>
        </p:nvSpPr>
        <p:spPr>
          <a:xfrm>
            <a:off x="6217920" y="1645920"/>
            <a:ext cx="5212080" cy="466344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0F172A"/>
                </a:solidFill>
                <a:latin typeface="Arial"/>
              </a:defRPr>
            </a:pPr>
            <a:r>
              <a:t>Admin Operations &amp; Moderation</a:t>
            </a:r>
          </a:p>
          <a:p>
            <a:pPr>
              <a:lnSpc>
                <a:spcPct val="120000"/>
              </a:lnSpc>
              <a:spcBef>
                <a:spcPts val="400"/>
              </a:spcBef>
              <a:spcAft>
                <a:spcPts val="400"/>
              </a:spcAft>
            </a:pPr>
            <a:r>
              <a:rPr sz="1100" b="1">
                <a:solidFill>
                  <a:srgbClr val="059669"/>
                </a:solidFill>
                <a:latin typeface="Arial"/>
              </a:rPr>
              <a:t>• Seller Identity Queue: </a:t>
            </a:r>
            <a:r>
              <a:rPr sz="1100">
                <a:solidFill>
                  <a:srgbClr val="0F172A"/>
                </a:solidFill>
                <a:latin typeface="Arial"/>
              </a:rPr>
              <a:t>Inspects uploaded NIC/Passport documents in private storage; approves verified sellers or records structured rejection reasons.</a:t>
            </a:r>
          </a:p>
          <a:p>
            <a:pPr>
              <a:lnSpc>
                <a:spcPct val="120000"/>
              </a:lnSpc>
              <a:spcBef>
                <a:spcPts val="400"/>
              </a:spcBef>
              <a:spcAft>
                <a:spcPts val="400"/>
              </a:spcAft>
            </a:pPr>
            <a:r>
              <a:rPr sz="1100" b="1">
                <a:solidFill>
                  <a:srgbClr val="059669"/>
                </a:solidFill>
                <a:latin typeface="Arial"/>
              </a:rPr>
              <a:t>• Draft Quality Moderation: </a:t>
            </a:r>
            <a:r>
              <a:rPr sz="1100">
                <a:solidFill>
                  <a:srgbClr val="0F172A"/>
                </a:solidFill>
                <a:latin typeface="Arial"/>
              </a:rPr>
              <a:t>Screens property photos, validates price reasonableness, and toggles published visibility on the marketplace.</a:t>
            </a:r>
          </a:p>
          <a:p>
            <a:pPr>
              <a:lnSpc>
                <a:spcPct val="120000"/>
              </a:lnSpc>
              <a:spcBef>
                <a:spcPts val="400"/>
              </a:spcBef>
              <a:spcAft>
                <a:spcPts val="400"/>
              </a:spcAft>
            </a:pPr>
            <a:r>
              <a:rPr sz="1100" b="1">
                <a:solidFill>
                  <a:srgbClr val="059669"/>
                </a:solidFill>
                <a:latin typeface="Arial"/>
              </a:rPr>
              <a:t>• Payment Verification: </a:t>
            </a:r>
            <a:r>
              <a:rPr sz="1100">
                <a:solidFill>
                  <a:srgbClr val="0F172A"/>
                </a:solidFill>
                <a:latin typeface="Arial"/>
              </a:rPr>
              <a:t>Audits uploaded bank deposit receipts against banking records before activating premium tier badges.</a:t>
            </a:r>
          </a:p>
          <a:p>
            <a:pPr>
              <a:lnSpc>
                <a:spcPct val="120000"/>
              </a:lnSpc>
              <a:spcBef>
                <a:spcPts val="400"/>
              </a:spcBef>
              <a:spcAft>
                <a:spcPts val="400"/>
              </a:spcAft>
            </a:pPr>
            <a:r>
              <a:rPr sz="1100" b="1">
                <a:solidFill>
                  <a:srgbClr val="059669"/>
                </a:solidFill>
                <a:latin typeface="Arial"/>
              </a:rPr>
              <a:t>• Executive KPI Dashboard: </a:t>
            </a:r>
            <a:r>
              <a:rPr sz="1100">
                <a:solidFill>
                  <a:srgbClr val="0F172A"/>
                </a:solidFill>
                <a:latin typeface="Arial"/>
              </a:rPr>
              <a:t>Real-time analytics tracking registered buyers, active sellers, approved listings, and platform revenue.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100" b="1">
                <a:solidFill>
                  <a:srgbClr val="059669"/>
                </a:solidFill>
                <a:latin typeface="Arial"/>
              </a:defRPr>
            </a:pPr>
            <a:r>
              <a:t>ENGINEERING QUALITY</a:t>
            </a:r>
          </a:p>
        </p:txBody>
      </p:sp>
      <p:sp>
        <p:nvSpPr>
          <p:cNvPr id="4" name="TextBox 3"/>
          <p:cNvSpPr txBox="1"/>
          <p:nvPr/>
        </p:nvSpPr>
        <p:spPr>
          <a:xfrm>
            <a:off x="731520" y="777240"/>
            <a:ext cx="10698480" cy="731520"/>
          </a:xfrm>
          <a:prstGeom prst="rect">
            <a:avLst/>
          </a:prstGeom>
          <a:noFill/>
        </p:spPr>
        <p:txBody>
          <a:bodyPr wrap="square">
            <a:spAutoFit/>
          </a:bodyPr>
          <a:lstStyle/>
          <a:p>
            <a:pPr>
              <a:defRPr sz="2400" b="1">
                <a:solidFill>
                  <a:srgbClr val="0F172A"/>
                </a:solidFill>
                <a:latin typeface="Arial"/>
              </a:defRPr>
            </a:pPr>
            <a:r>
              <a:t>Software Development Life Cycle, Testing &amp; Security</a:t>
            </a:r>
          </a:p>
        </p:txBody>
      </p:sp>
      <p:sp>
        <p:nvSpPr>
          <p:cNvPr id="5" name="Rounded Rectangle 4"/>
          <p:cNvSpPr/>
          <p:nvPr/>
        </p:nvSpPr>
        <p:spPr>
          <a:xfrm>
            <a:off x="731520" y="1645920"/>
            <a:ext cx="5212080" cy="466344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0F172A"/>
                </a:solidFill>
                <a:latin typeface="Arial"/>
              </a:defRPr>
            </a:pPr>
            <a:r>
              <a:t>Agile SDLC &amp; GitFlow</a:t>
            </a:r>
          </a:p>
          <a:p>
            <a:pPr>
              <a:lnSpc>
                <a:spcPct val="120000"/>
              </a:lnSpc>
              <a:spcBef>
                <a:spcPts val="400"/>
              </a:spcBef>
              <a:spcAft>
                <a:spcPts val="400"/>
              </a:spcAft>
            </a:pPr>
            <a:r>
              <a:rPr sz="1100" b="1">
                <a:solidFill>
                  <a:srgbClr val="059669"/>
                </a:solidFill>
                <a:latin typeface="Arial"/>
              </a:rPr>
              <a:t>• Scrum Methodology: </a:t>
            </a:r>
            <a:r>
              <a:rPr sz="1100">
                <a:solidFill>
                  <a:srgbClr val="0F172A"/>
                </a:solidFill>
                <a:latin typeface="Arial"/>
              </a:rPr>
              <a:t>Executed 2-week sprint cycles with daily standups, backlog refinement, sprint demos, and retrospectives.</a:t>
            </a:r>
          </a:p>
          <a:p>
            <a:pPr>
              <a:lnSpc>
                <a:spcPct val="120000"/>
              </a:lnSpc>
              <a:spcBef>
                <a:spcPts val="400"/>
              </a:spcBef>
              <a:spcAft>
                <a:spcPts val="400"/>
              </a:spcAft>
            </a:pPr>
            <a:r>
              <a:rPr sz="1100" b="1">
                <a:solidFill>
                  <a:srgbClr val="059669"/>
                </a:solidFill>
                <a:latin typeface="Arial"/>
              </a:rPr>
              <a:t>• GitFlow Branching: </a:t>
            </a:r>
            <a:r>
              <a:rPr sz="1100">
                <a:solidFill>
                  <a:srgbClr val="0F172A"/>
                </a:solidFill>
                <a:latin typeface="Arial"/>
              </a:rPr>
              <a:t>Main, develop, and feature-specific branches (feature/role-switching, feature/payhere-ipn) with mandatory pull request reviews.</a:t>
            </a:r>
          </a:p>
          <a:p>
            <a:pPr>
              <a:lnSpc>
                <a:spcPct val="120000"/>
              </a:lnSpc>
              <a:spcBef>
                <a:spcPts val="400"/>
              </a:spcBef>
              <a:spcAft>
                <a:spcPts val="400"/>
              </a:spcAft>
            </a:pPr>
            <a:r>
              <a:rPr sz="1100" b="1">
                <a:solidFill>
                  <a:srgbClr val="059669"/>
                </a:solidFill>
                <a:latin typeface="Arial"/>
              </a:rPr>
              <a:t>• Unit &amp; Integration Testing: </a:t>
            </a:r>
            <a:r>
              <a:rPr sz="1100">
                <a:solidFill>
                  <a:srgbClr val="0F172A"/>
                </a:solidFill>
                <a:latin typeface="Arial"/>
              </a:rPr>
              <a:t>PHPUnit test cases on backend controller validation and model relationships; automated Postman regression suites.</a:t>
            </a:r>
          </a:p>
          <a:p>
            <a:pPr>
              <a:lnSpc>
                <a:spcPct val="120000"/>
              </a:lnSpc>
              <a:spcBef>
                <a:spcPts val="400"/>
              </a:spcBef>
              <a:spcAft>
                <a:spcPts val="400"/>
              </a:spcAft>
            </a:pPr>
            <a:r>
              <a:rPr sz="1100" b="1">
                <a:solidFill>
                  <a:srgbClr val="059669"/>
                </a:solidFill>
                <a:latin typeface="Arial"/>
              </a:rPr>
              <a:t>• Production Build: </a:t>
            </a:r>
            <a:r>
              <a:rPr sz="1100">
                <a:solidFill>
                  <a:srgbClr val="0F172A"/>
                </a:solidFill>
                <a:latin typeface="Arial"/>
              </a:rPr>
              <a:t>Vite production bundling completed in 5.16s with asset minification, chunk splitting, and zero linting errors.</a:t>
            </a:r>
          </a:p>
        </p:txBody>
      </p:sp>
      <p:sp>
        <p:nvSpPr>
          <p:cNvPr id="6" name="Rounded Rectangle 5"/>
          <p:cNvSpPr/>
          <p:nvPr/>
        </p:nvSpPr>
        <p:spPr>
          <a:xfrm>
            <a:off x="6217920" y="1645920"/>
            <a:ext cx="5212080" cy="466344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0F172A"/>
                </a:solidFill>
                <a:latin typeface="Arial"/>
              </a:defRPr>
            </a:pPr>
            <a:r>
              <a:t>Security &amp; Compliance Hardening</a:t>
            </a:r>
          </a:p>
          <a:p>
            <a:pPr>
              <a:lnSpc>
                <a:spcPct val="120000"/>
              </a:lnSpc>
              <a:spcBef>
                <a:spcPts val="400"/>
              </a:spcBef>
              <a:spcAft>
                <a:spcPts val="400"/>
              </a:spcAft>
            </a:pPr>
            <a:r>
              <a:rPr sz="1100" b="1">
                <a:solidFill>
                  <a:srgbClr val="059669"/>
                </a:solidFill>
                <a:latin typeface="Arial"/>
              </a:rPr>
              <a:t>• Bcrypt Cryptographic Hashing: </a:t>
            </a:r>
            <a:r>
              <a:rPr sz="1100">
                <a:solidFill>
                  <a:srgbClr val="0F172A"/>
                </a:solidFill>
                <a:latin typeface="Arial"/>
              </a:rPr>
              <a:t>Passwords hashed with 12 rounds, resilient against rainbow table and dictionary attacks.</a:t>
            </a:r>
          </a:p>
          <a:p>
            <a:pPr>
              <a:lnSpc>
                <a:spcPct val="120000"/>
              </a:lnSpc>
              <a:spcBef>
                <a:spcPts val="400"/>
              </a:spcBef>
              <a:spcAft>
                <a:spcPts val="400"/>
              </a:spcAft>
            </a:pPr>
            <a:r>
              <a:rPr sz="1100" b="1">
                <a:solidFill>
                  <a:srgbClr val="059669"/>
                </a:solidFill>
                <a:latin typeface="Arial"/>
              </a:rPr>
              <a:t>• Private Disk Document Vault: </a:t>
            </a:r>
            <a:r>
              <a:rPr sz="1100">
                <a:solidFill>
                  <a:srgbClr val="0F172A"/>
                </a:solidFill>
                <a:latin typeface="Arial"/>
              </a:rPr>
              <a:t>Sensitive NIC documents and original title deeds are isolated from public web directories.</a:t>
            </a:r>
          </a:p>
          <a:p>
            <a:pPr>
              <a:lnSpc>
                <a:spcPct val="120000"/>
              </a:lnSpc>
              <a:spcBef>
                <a:spcPts val="400"/>
              </a:spcBef>
              <a:spcAft>
                <a:spcPts val="400"/>
              </a:spcAft>
            </a:pPr>
            <a:r>
              <a:rPr sz="1100" b="1">
                <a:solidFill>
                  <a:srgbClr val="059669"/>
                </a:solidFill>
                <a:latin typeface="Arial"/>
              </a:rPr>
              <a:t>• SQLi &amp; XSS Prevention: </a:t>
            </a:r>
            <a:r>
              <a:rPr sz="1100">
                <a:solidFill>
                  <a:srgbClr val="0F172A"/>
                </a:solidFill>
                <a:latin typeface="Arial"/>
              </a:rPr>
              <a:t>Eloquent PDO parameter binding eliminates SQL injection; React virtual DOM auto-escaping neutralizes XSS threats.</a:t>
            </a:r>
          </a:p>
          <a:p>
            <a:pPr>
              <a:lnSpc>
                <a:spcPct val="120000"/>
              </a:lnSpc>
              <a:spcBef>
                <a:spcPts val="400"/>
              </a:spcBef>
              <a:spcAft>
                <a:spcPts val="400"/>
              </a:spcAft>
            </a:pPr>
            <a:r>
              <a:rPr sz="1100" b="1">
                <a:solidFill>
                  <a:srgbClr val="059669"/>
                </a:solidFill>
                <a:latin typeface="Arial"/>
              </a:rPr>
              <a:t>• Cross-Browser Verification: </a:t>
            </a:r>
            <a:r>
              <a:rPr sz="1100">
                <a:solidFill>
                  <a:srgbClr val="0F172A"/>
                </a:solidFill>
                <a:latin typeface="Arial"/>
              </a:rPr>
              <a:t>Tested across Chrome, Firefox, Edge, and Safari on iOS, Android, and desktop viewports.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100" b="1">
                <a:solidFill>
                  <a:srgbClr val="059669"/>
                </a:solidFill>
                <a:latin typeface="Arial"/>
              </a:defRPr>
            </a:pPr>
            <a:r>
              <a:t>PROBLEM SOLVING</a:t>
            </a:r>
          </a:p>
        </p:txBody>
      </p:sp>
      <p:sp>
        <p:nvSpPr>
          <p:cNvPr id="4" name="TextBox 3"/>
          <p:cNvSpPr txBox="1"/>
          <p:nvPr/>
        </p:nvSpPr>
        <p:spPr>
          <a:xfrm>
            <a:off x="731520" y="777240"/>
            <a:ext cx="10698480" cy="731520"/>
          </a:xfrm>
          <a:prstGeom prst="rect">
            <a:avLst/>
          </a:prstGeom>
          <a:noFill/>
        </p:spPr>
        <p:txBody>
          <a:bodyPr wrap="square">
            <a:spAutoFit/>
          </a:bodyPr>
          <a:lstStyle/>
          <a:p>
            <a:pPr>
              <a:defRPr sz="2400" b="1">
                <a:solidFill>
                  <a:srgbClr val="0F172A"/>
                </a:solidFill>
                <a:latin typeface="Arial"/>
              </a:defRPr>
            </a:pPr>
            <a:r>
              <a:t>Key Technical Challenges &amp; Implemented Solutions</a:t>
            </a:r>
          </a:p>
        </p:txBody>
      </p:sp>
      <p:sp>
        <p:nvSpPr>
          <p:cNvPr id="5" name="Rounded Rectangle 4"/>
          <p:cNvSpPr/>
          <p:nvPr/>
        </p:nvSpPr>
        <p:spPr>
          <a:xfrm>
            <a:off x="731520" y="1645920"/>
            <a:ext cx="5212080" cy="219456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0F172A"/>
                </a:solidFill>
                <a:latin typeface="Arial"/>
              </a:defRPr>
            </a:pPr>
            <a:r>
              <a:t>Duplicate Account Collision</a:t>
            </a:r>
          </a:p>
          <a:p>
            <a:pPr>
              <a:lnSpc>
                <a:spcPct val="120000"/>
              </a:lnSpc>
              <a:spcBef>
                <a:spcPts val="400"/>
              </a:spcBef>
              <a:spcAft>
                <a:spcPts val="400"/>
              </a:spcAft>
            </a:pPr>
            <a:r>
              <a:rPr sz="1050" b="1">
                <a:solidFill>
                  <a:srgbClr val="059669"/>
                </a:solidFill>
                <a:latin typeface="Arial"/>
              </a:rPr>
              <a:t>• Root Cause: </a:t>
            </a:r>
            <a:r>
              <a:rPr sz="1050">
                <a:solidFill>
                  <a:srgbClr val="0F172A"/>
                </a:solidFill>
                <a:latin typeface="Arial"/>
              </a:rPr>
              <a:t>Database-level uniqueness on user email prevented buyers from creating seller accounts.</a:t>
            </a:r>
          </a:p>
          <a:p>
            <a:pPr>
              <a:lnSpc>
                <a:spcPct val="120000"/>
              </a:lnSpc>
              <a:spcBef>
                <a:spcPts val="400"/>
              </a:spcBef>
              <a:spcAft>
                <a:spcPts val="400"/>
              </a:spcAft>
            </a:pPr>
            <a:r>
              <a:rPr sz="1050" b="1">
                <a:solidFill>
                  <a:srgbClr val="059669"/>
                </a:solidFill>
                <a:latin typeface="Arial"/>
              </a:rPr>
              <a:t>• Solution: </a:t>
            </a:r>
            <a:r>
              <a:rPr sz="1050">
                <a:solidFill>
                  <a:srgbClr val="0F172A"/>
                </a:solidFill>
                <a:latin typeface="Arial"/>
              </a:rPr>
              <a:t>Decoupled seller verification into a seller_status column and built in-place applyForSeller endpoint, enabling a single credential to hold multiple roles.</a:t>
            </a:r>
          </a:p>
        </p:txBody>
      </p:sp>
      <p:sp>
        <p:nvSpPr>
          <p:cNvPr id="6" name="Rounded Rectangle 5"/>
          <p:cNvSpPr/>
          <p:nvPr/>
        </p:nvSpPr>
        <p:spPr>
          <a:xfrm>
            <a:off x="6217920" y="1645920"/>
            <a:ext cx="5212080" cy="219456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0F172A"/>
                </a:solidFill>
                <a:latin typeface="Arial"/>
              </a:defRPr>
            </a:pPr>
            <a:r>
              <a:t>Lawyer Cross-Role Isolation</a:t>
            </a:r>
          </a:p>
          <a:p>
            <a:pPr>
              <a:lnSpc>
                <a:spcPct val="120000"/>
              </a:lnSpc>
              <a:spcBef>
                <a:spcPts val="400"/>
              </a:spcBef>
              <a:spcAft>
                <a:spcPts val="400"/>
              </a:spcAft>
            </a:pPr>
            <a:r>
              <a:rPr sz="1050" b="1">
                <a:solidFill>
                  <a:srgbClr val="059669"/>
                </a:solidFill>
                <a:latin typeface="Arial"/>
              </a:rPr>
              <a:t>• Root Cause: </a:t>
            </a:r>
            <a:r>
              <a:rPr sz="1050">
                <a:solidFill>
                  <a:srgbClr val="0F172A"/>
                </a:solidFill>
                <a:latin typeface="Arial"/>
              </a:rPr>
              <a:t>Lawyers were locked in LawyerDashboard with hidden navbars, unable to browse or save properties.</a:t>
            </a:r>
          </a:p>
          <a:p>
            <a:pPr>
              <a:lnSpc>
                <a:spcPct val="120000"/>
              </a:lnSpc>
              <a:spcBef>
                <a:spcPts val="400"/>
              </a:spcBef>
              <a:spcAft>
                <a:spcPts val="400"/>
              </a:spcAft>
            </a:pPr>
            <a:r>
              <a:rPr sz="1050" b="1">
                <a:solidFill>
                  <a:srgbClr val="059669"/>
                </a:solidFill>
                <a:latin typeface="Arial"/>
              </a:rPr>
              <a:t>• Solution: </a:t>
            </a:r>
            <a:r>
              <a:rPr sz="1050">
                <a:solidFill>
                  <a:srgbClr val="0F172A"/>
                </a:solidFill>
                <a:latin typeface="Arial"/>
              </a:rPr>
              <a:t>Engineered bidirectional cross-navigation in Navbar and dashboards, allowing attorneys to seamlessly alternate between legal and buyer modes.</a:t>
            </a:r>
          </a:p>
        </p:txBody>
      </p:sp>
      <p:sp>
        <p:nvSpPr>
          <p:cNvPr id="7" name="Rounded Rectangle 6"/>
          <p:cNvSpPr/>
          <p:nvPr/>
        </p:nvSpPr>
        <p:spPr>
          <a:xfrm>
            <a:off x="731520" y="4023360"/>
            <a:ext cx="5212080" cy="219456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0F172A"/>
                </a:solidFill>
                <a:latin typeface="Arial"/>
              </a:defRPr>
            </a:pPr>
            <a:r>
              <a:t>Title Deed &amp; Identity Exposure</a:t>
            </a:r>
          </a:p>
          <a:p>
            <a:pPr>
              <a:lnSpc>
                <a:spcPct val="120000"/>
              </a:lnSpc>
              <a:spcBef>
                <a:spcPts val="400"/>
              </a:spcBef>
              <a:spcAft>
                <a:spcPts val="400"/>
              </a:spcAft>
            </a:pPr>
            <a:r>
              <a:rPr sz="1050" b="1">
                <a:solidFill>
                  <a:srgbClr val="059669"/>
                </a:solidFill>
                <a:latin typeface="Arial"/>
              </a:rPr>
              <a:t>• Root Cause: </a:t>
            </a:r>
            <a:r>
              <a:rPr sz="1050">
                <a:solidFill>
                  <a:srgbClr val="0F172A"/>
                </a:solidFill>
                <a:latin typeface="Arial"/>
              </a:rPr>
              <a:t>Direct public URLs to uploaded deeds and NIC cards created severe data privacy vulnerabilities.</a:t>
            </a:r>
          </a:p>
          <a:p>
            <a:pPr>
              <a:lnSpc>
                <a:spcPct val="120000"/>
              </a:lnSpc>
              <a:spcBef>
                <a:spcPts val="400"/>
              </a:spcBef>
              <a:spcAft>
                <a:spcPts val="400"/>
              </a:spcAft>
            </a:pPr>
            <a:r>
              <a:rPr sz="1050" b="1">
                <a:solidFill>
                  <a:srgbClr val="059669"/>
                </a:solidFill>
                <a:latin typeface="Arial"/>
              </a:rPr>
              <a:t>• Solution: </a:t>
            </a:r>
            <a:r>
              <a:rPr sz="1050">
                <a:solidFill>
                  <a:srgbClr val="0F172A"/>
                </a:solidFill>
                <a:latin typeface="Arial"/>
              </a:rPr>
              <a:t>Stored all sensitive files in non-public storage directories (storage/app/private) accessible solely via authenticated admin proxy routes.</a:t>
            </a:r>
          </a:p>
        </p:txBody>
      </p:sp>
      <p:sp>
        <p:nvSpPr>
          <p:cNvPr id="8" name="Rounded Rectangle 7"/>
          <p:cNvSpPr/>
          <p:nvPr/>
        </p:nvSpPr>
        <p:spPr>
          <a:xfrm>
            <a:off x="6217920" y="4023360"/>
            <a:ext cx="5212080" cy="219456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0F172A"/>
                </a:solidFill>
                <a:latin typeface="Arial"/>
              </a:defRPr>
            </a:pPr>
            <a:r>
              <a:t>Client Session Desynchronization</a:t>
            </a:r>
          </a:p>
          <a:p>
            <a:pPr>
              <a:lnSpc>
                <a:spcPct val="120000"/>
              </a:lnSpc>
              <a:spcBef>
                <a:spcPts val="400"/>
              </a:spcBef>
              <a:spcAft>
                <a:spcPts val="400"/>
              </a:spcAft>
            </a:pPr>
            <a:r>
              <a:rPr sz="1050" b="1">
                <a:solidFill>
                  <a:srgbClr val="059669"/>
                </a:solidFill>
                <a:latin typeface="Arial"/>
              </a:rPr>
              <a:t>• Root Cause: </a:t>
            </a:r>
            <a:r>
              <a:rPr sz="1050">
                <a:solidFill>
                  <a:srgbClr val="0F172A"/>
                </a:solidFill>
                <a:latin typeface="Arial"/>
              </a:rPr>
              <a:t>Role changes caused stale data in browser localStorage, requiring hard page reloads to reflect permissions.</a:t>
            </a:r>
          </a:p>
          <a:p>
            <a:pPr>
              <a:lnSpc>
                <a:spcPct val="120000"/>
              </a:lnSpc>
              <a:spcBef>
                <a:spcPts val="400"/>
              </a:spcBef>
              <a:spcAft>
                <a:spcPts val="400"/>
              </a:spcAft>
            </a:pPr>
            <a:r>
              <a:rPr sz="1050" b="1">
                <a:solidFill>
                  <a:srgbClr val="059669"/>
                </a:solidFill>
                <a:latin typeface="Arial"/>
              </a:rPr>
              <a:t>• Solution: </a:t>
            </a:r>
            <a:r>
              <a:rPr sz="1050">
                <a:solidFill>
                  <a:srgbClr val="0F172A"/>
                </a:solidFill>
                <a:latin typeface="Arial"/>
              </a:rPr>
              <a:t>Implemented refreshUser() dispatcher in AuthContext to synchronize React memory state with localStorage instantly upon role transitions.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a:spAutoFit/>
          </a:bodyPr>
          <a:lstStyle/>
          <a:p>
            <a:pPr>
              <a:defRPr sz="1100" b="1">
                <a:solidFill>
                  <a:srgbClr val="059669"/>
                </a:solidFill>
                <a:latin typeface="Arial"/>
              </a:defRPr>
            </a:pPr>
            <a:r>
              <a:t>LEARNING &amp; EVOLUTION</a:t>
            </a:r>
          </a:p>
        </p:txBody>
      </p:sp>
      <p:sp>
        <p:nvSpPr>
          <p:cNvPr id="4" name="TextBox 3"/>
          <p:cNvSpPr txBox="1"/>
          <p:nvPr/>
        </p:nvSpPr>
        <p:spPr>
          <a:xfrm>
            <a:off x="731520" y="777240"/>
            <a:ext cx="10698480" cy="731520"/>
          </a:xfrm>
          <a:prstGeom prst="rect">
            <a:avLst/>
          </a:prstGeom>
          <a:noFill/>
        </p:spPr>
        <p:txBody>
          <a:bodyPr wrap="square">
            <a:spAutoFit/>
          </a:bodyPr>
          <a:lstStyle/>
          <a:p>
            <a:pPr>
              <a:defRPr sz="2400" b="1">
                <a:solidFill>
                  <a:srgbClr val="0F172A"/>
                </a:solidFill>
                <a:latin typeface="Arial"/>
              </a:defRPr>
            </a:pPr>
            <a:r>
              <a:t>Professional Growth &amp; Future Scalability Roadmap</a:t>
            </a:r>
          </a:p>
        </p:txBody>
      </p:sp>
      <p:sp>
        <p:nvSpPr>
          <p:cNvPr id="5" name="Rounded Rectangle 4"/>
          <p:cNvSpPr/>
          <p:nvPr/>
        </p:nvSpPr>
        <p:spPr>
          <a:xfrm>
            <a:off x="731520" y="1645920"/>
            <a:ext cx="5212080" cy="466344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0F172A"/>
                </a:solidFill>
                <a:latin typeface="Arial"/>
              </a:defRPr>
            </a:pPr>
            <a:r>
              <a:t>Competencies &amp; Skills Acquired</a:t>
            </a:r>
          </a:p>
          <a:p>
            <a:pPr>
              <a:lnSpc>
                <a:spcPct val="120000"/>
              </a:lnSpc>
              <a:spcBef>
                <a:spcPts val="400"/>
              </a:spcBef>
              <a:spcAft>
                <a:spcPts val="400"/>
              </a:spcAft>
            </a:pPr>
            <a:r>
              <a:rPr sz="1100" b="1">
                <a:solidFill>
                  <a:srgbClr val="059669"/>
                </a:solidFill>
                <a:latin typeface="Arial"/>
              </a:rPr>
              <a:t>• Full-Stack Proficiency: </a:t>
            </a:r>
            <a:r>
              <a:rPr sz="1100">
                <a:solidFill>
                  <a:srgbClr val="0F172A"/>
                </a:solidFill>
                <a:latin typeface="Arial"/>
              </a:rPr>
              <a:t>Advanced practical expertise in PHP 8.4, Laravel 13, React 18, Vite, and MySQL relational modeling.</a:t>
            </a:r>
          </a:p>
          <a:p>
            <a:pPr>
              <a:lnSpc>
                <a:spcPct val="120000"/>
              </a:lnSpc>
              <a:spcBef>
                <a:spcPts val="400"/>
              </a:spcBef>
              <a:spcAft>
                <a:spcPts val="400"/>
              </a:spcAft>
            </a:pPr>
            <a:r>
              <a:rPr sz="1100" b="1">
                <a:solidFill>
                  <a:srgbClr val="059669"/>
                </a:solidFill>
                <a:latin typeface="Arial"/>
              </a:rPr>
              <a:t>• Architectural Problem-Solving: </a:t>
            </a:r>
            <a:r>
              <a:rPr sz="1100">
                <a:solidFill>
                  <a:srgbClr val="0F172A"/>
                </a:solidFill>
                <a:latin typeface="Arial"/>
              </a:rPr>
              <a:t>Ability to diagnose architectural friction points and implement clean, backward-compatible refactors.</a:t>
            </a:r>
          </a:p>
          <a:p>
            <a:pPr>
              <a:lnSpc>
                <a:spcPct val="120000"/>
              </a:lnSpc>
              <a:spcBef>
                <a:spcPts val="400"/>
              </a:spcBef>
              <a:spcAft>
                <a:spcPts val="400"/>
              </a:spcAft>
            </a:pPr>
            <a:r>
              <a:rPr sz="1100" b="1">
                <a:solidFill>
                  <a:srgbClr val="059669"/>
                </a:solidFill>
                <a:latin typeface="Arial"/>
              </a:rPr>
              <a:t>• Enterprise Security: </a:t>
            </a:r>
            <a:r>
              <a:rPr sz="1100">
                <a:solidFill>
                  <a:srgbClr val="0F172A"/>
                </a:solidFill>
                <a:latin typeface="Arial"/>
              </a:rPr>
              <a:t>Mastered Bcrypt hashing, private disk isolation, FormRequest validation, and RBAC authorization middleware.</a:t>
            </a:r>
          </a:p>
          <a:p>
            <a:pPr>
              <a:lnSpc>
                <a:spcPct val="120000"/>
              </a:lnSpc>
              <a:spcBef>
                <a:spcPts val="400"/>
              </a:spcBef>
              <a:spcAft>
                <a:spcPts val="400"/>
              </a:spcAft>
            </a:pPr>
            <a:r>
              <a:rPr sz="1100" b="1">
                <a:solidFill>
                  <a:srgbClr val="059669"/>
                </a:solidFill>
                <a:latin typeface="Arial"/>
              </a:rPr>
              <a:t>• Professional Collaboration: </a:t>
            </a:r>
            <a:r>
              <a:rPr sz="1100">
                <a:solidFill>
                  <a:srgbClr val="0F172A"/>
                </a:solidFill>
                <a:latin typeface="Arial"/>
              </a:rPr>
              <a:t>Proficiency in Agile Scrum rituals, GitFlow version control, sprint planning, and cross-disciplinary communication.</a:t>
            </a:r>
          </a:p>
        </p:txBody>
      </p:sp>
      <p:sp>
        <p:nvSpPr>
          <p:cNvPr id="6" name="Rounded Rectangle 5"/>
          <p:cNvSpPr/>
          <p:nvPr/>
        </p:nvSpPr>
        <p:spPr>
          <a:xfrm>
            <a:off x="6217920" y="1645920"/>
            <a:ext cx="5212080" cy="466344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0F172A"/>
                </a:solidFill>
                <a:latin typeface="Arial"/>
              </a:defRPr>
            </a:pPr>
            <a:r>
              <a:t>Future Scalability Recommendations</a:t>
            </a:r>
          </a:p>
          <a:p>
            <a:pPr>
              <a:lnSpc>
                <a:spcPct val="120000"/>
              </a:lnSpc>
              <a:spcBef>
                <a:spcPts val="400"/>
              </a:spcBef>
              <a:spcAft>
                <a:spcPts val="400"/>
              </a:spcAft>
            </a:pPr>
            <a:r>
              <a:rPr sz="1100" b="1">
                <a:solidFill>
                  <a:srgbClr val="059669"/>
                </a:solidFill>
                <a:latin typeface="Arial"/>
              </a:rPr>
              <a:t>• Automated OCR Identity Extraction: </a:t>
            </a:r>
            <a:r>
              <a:rPr sz="1100">
                <a:solidFill>
                  <a:srgbClr val="0F172A"/>
                </a:solidFill>
                <a:latin typeface="Arial"/>
              </a:rPr>
              <a:t>Integrate Optical Character Recognition (OCR) to automatically parse NIC numbers and photo matches from uploads.</a:t>
            </a:r>
          </a:p>
          <a:p>
            <a:pPr>
              <a:lnSpc>
                <a:spcPct val="120000"/>
              </a:lnSpc>
              <a:spcBef>
                <a:spcPts val="400"/>
              </a:spcBef>
              <a:spcAft>
                <a:spcPts val="400"/>
              </a:spcAft>
            </a:pPr>
            <a:r>
              <a:rPr sz="1100" b="1">
                <a:solidFill>
                  <a:srgbClr val="059669"/>
                </a:solidFill>
                <a:latin typeface="Arial"/>
              </a:rPr>
              <a:t>• Bidirectional WebSockets: </a:t>
            </a:r>
            <a:r>
              <a:rPr sz="1100">
                <a:solidFill>
                  <a:srgbClr val="0F172A"/>
                </a:solidFill>
                <a:latin typeface="Arial"/>
              </a:rPr>
              <a:t>Upgrade inquiry notifications and appointment alerts to real-time WebSockets using Laravel Reverb.</a:t>
            </a:r>
          </a:p>
          <a:p>
            <a:pPr>
              <a:lnSpc>
                <a:spcPct val="120000"/>
              </a:lnSpc>
              <a:spcBef>
                <a:spcPts val="400"/>
              </a:spcBef>
              <a:spcAft>
                <a:spcPts val="400"/>
              </a:spcAft>
            </a:pPr>
            <a:r>
              <a:rPr sz="1100" b="1">
                <a:solidFill>
                  <a:srgbClr val="059669"/>
                </a:solidFill>
                <a:latin typeface="Arial"/>
              </a:rPr>
              <a:t>• Cross-Platform Mobile Apps: </a:t>
            </a:r>
            <a:r>
              <a:rPr sz="1100">
                <a:solidFill>
                  <a:srgbClr val="0F172A"/>
                </a:solidFill>
                <a:latin typeface="Arial"/>
              </a:rPr>
              <a:t>Develop iOS and Android mobile applications using React Native sharing the existing Laravel REST backend.</a:t>
            </a:r>
          </a:p>
          <a:p>
            <a:pPr>
              <a:lnSpc>
                <a:spcPct val="120000"/>
              </a:lnSpc>
              <a:spcBef>
                <a:spcPts val="400"/>
              </a:spcBef>
              <a:spcAft>
                <a:spcPts val="400"/>
              </a:spcAft>
            </a:pPr>
            <a:r>
              <a:rPr sz="1100" b="1">
                <a:solidFill>
                  <a:srgbClr val="059669"/>
                </a:solidFill>
                <a:latin typeface="Arial"/>
              </a:rPr>
              <a:t>• Geospatial Boundary Mapping: </a:t>
            </a:r>
            <a:r>
              <a:rPr sz="1100">
                <a:solidFill>
                  <a:srgbClr val="0F172A"/>
                </a:solidFill>
                <a:latin typeface="Arial"/>
              </a:rPr>
              <a:t>Integrate Leaflet or Google Maps APIs for cadastral property boundary and survey plan overlays.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097280"/>
            <a:ext cx="10332720" cy="1371600"/>
          </a:xfrm>
          <a:prstGeom prst="rect">
            <a:avLst/>
          </a:prstGeom>
          <a:noFill/>
        </p:spPr>
        <p:txBody>
          <a:bodyPr wrap="square">
            <a:spAutoFit/>
          </a:bodyPr>
          <a:lstStyle/>
          <a:p>
            <a:pPr>
              <a:spcAft>
                <a:spcPts val="800"/>
              </a:spcAft>
              <a:defRPr sz="3200" b="1">
                <a:solidFill>
                  <a:srgbClr val="FFFFFF"/>
                </a:solidFill>
                <a:latin typeface="Arial"/>
              </a:defRPr>
            </a:pPr>
            <a:r>
              <a:t>CONCLUSION &amp; ACKNOWLEDGEMENTS</a:t>
            </a:r>
          </a:p>
          <a:p>
            <a:pPr>
              <a:defRPr sz="1800">
                <a:solidFill>
                  <a:srgbClr val="D97706"/>
                </a:solidFill>
                <a:latin typeface="Arial"/>
              </a:defRPr>
            </a:pPr>
            <a:r>
              <a:t>Module IT3901 Industrial Training Successfully Completed</a:t>
            </a:r>
          </a:p>
        </p:txBody>
      </p:sp>
      <p:sp>
        <p:nvSpPr>
          <p:cNvPr id="5" name="Rounded Rectangle 4"/>
          <p:cNvSpPr/>
          <p:nvPr/>
        </p:nvSpPr>
        <p:spPr>
          <a:xfrm>
            <a:off x="914400" y="2560320"/>
            <a:ext cx="5029200" cy="3474720"/>
          </a:xfrm>
          <a:prstGeom prst="roundRect">
            <a:avLst/>
          </a:prstGeom>
          <a:solidFill>
            <a:srgbClr val="1E293B"/>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0F172A"/>
                </a:solidFill>
                <a:latin typeface="Arial"/>
              </a:defRPr>
            </a:pPr>
            <a:r>
              <a:t>Project Achievements</a:t>
            </a:r>
          </a:p>
          <a:p>
            <a:pPr>
              <a:lnSpc>
                <a:spcPct val="120000"/>
              </a:lnSpc>
              <a:spcBef>
                <a:spcPts val="400"/>
              </a:spcBef>
              <a:spcAft>
                <a:spcPts val="400"/>
              </a:spcAft>
            </a:pPr>
            <a:r>
              <a:rPr sz="1200" b="1">
                <a:solidFill>
                  <a:srgbClr val="D97706"/>
                </a:solidFill>
                <a:latin typeface="Arial"/>
              </a:rPr>
              <a:t>• Production-Ready Platform: </a:t>
            </a:r>
            <a:r>
              <a:rPr sz="1200">
                <a:solidFill>
                  <a:srgbClr val="F1F5F9"/>
                </a:solidFill>
                <a:latin typeface="Arial"/>
              </a:rPr>
              <a:t>Successfully built and deployed the full-stack KNW PRO Realtor real estate and legal clearance platform.</a:t>
            </a:r>
          </a:p>
          <a:p>
            <a:pPr>
              <a:lnSpc>
                <a:spcPct val="120000"/>
              </a:lnSpc>
              <a:spcBef>
                <a:spcPts val="400"/>
              </a:spcBef>
              <a:spcAft>
                <a:spcPts val="400"/>
              </a:spcAft>
            </a:pPr>
            <a:r>
              <a:rPr sz="1200" b="1">
                <a:solidFill>
                  <a:srgbClr val="D97706"/>
                </a:solidFill>
                <a:latin typeface="Arial"/>
              </a:rPr>
              <a:t>• Academic Fulfillment: </a:t>
            </a:r>
            <a:r>
              <a:rPr sz="1200">
                <a:solidFill>
                  <a:srgbClr val="F1F5F9"/>
                </a:solidFill>
                <a:latin typeface="Arial"/>
              </a:rPr>
              <a:t>100% fulfilled the industrial training curriculum requirements for the Higher Diploma in Software Engineering at LNBTI.</a:t>
            </a:r>
          </a:p>
          <a:p>
            <a:pPr>
              <a:lnSpc>
                <a:spcPct val="120000"/>
              </a:lnSpc>
              <a:spcBef>
                <a:spcPts val="400"/>
              </a:spcBef>
              <a:spcAft>
                <a:spcPts val="400"/>
              </a:spcAft>
            </a:pPr>
            <a:r>
              <a:rPr sz="1200" b="1">
                <a:solidFill>
                  <a:srgbClr val="D97706"/>
                </a:solidFill>
                <a:latin typeface="Arial"/>
              </a:rPr>
              <a:t>• Commercial Impact: </a:t>
            </a:r>
            <a:r>
              <a:rPr sz="1200">
                <a:solidFill>
                  <a:srgbClr val="F1F5F9"/>
                </a:solidFill>
                <a:latin typeface="Arial"/>
              </a:rPr>
              <a:t>Delivered a fraud-resilient property ecosystem with seamless single-account role switching.</a:t>
            </a:r>
          </a:p>
        </p:txBody>
      </p:sp>
      <p:sp>
        <p:nvSpPr>
          <p:cNvPr id="6" name="Rounded Rectangle 5"/>
          <p:cNvSpPr/>
          <p:nvPr/>
        </p:nvSpPr>
        <p:spPr>
          <a:xfrm>
            <a:off x="6217920" y="2560320"/>
            <a:ext cx="5029200" cy="3474720"/>
          </a:xfrm>
          <a:prstGeom prst="roundRect">
            <a:avLst/>
          </a:prstGeom>
          <a:solidFill>
            <a:srgbClr val="1E293B"/>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500" b="1">
                <a:solidFill>
                  <a:srgbClr val="0F172A"/>
                </a:solidFill>
                <a:latin typeface="Arial"/>
              </a:defRPr>
            </a:pPr>
            <a:r>
              <a:t>Sincere Acknowledgements</a:t>
            </a:r>
          </a:p>
          <a:p>
            <a:pPr>
              <a:lnSpc>
                <a:spcPct val="120000"/>
              </a:lnSpc>
              <a:spcBef>
                <a:spcPts val="400"/>
              </a:spcBef>
              <a:spcAft>
                <a:spcPts val="400"/>
              </a:spcAft>
            </a:pPr>
            <a:r>
              <a:rPr sz="1200" b="1">
                <a:solidFill>
                  <a:srgbClr val="D97706"/>
                </a:solidFill>
                <a:latin typeface="Arial"/>
              </a:rPr>
              <a:t>• Academic Mentors: </a:t>
            </a:r>
            <a:r>
              <a:rPr sz="1200">
                <a:solidFill>
                  <a:srgbClr val="F1F5F9"/>
                </a:solidFill>
                <a:latin typeface="Arial"/>
              </a:rPr>
              <a:t>Profound gratitude to Lanka Nippon BizTech Institute, faculty members, and internal supervisors.</a:t>
            </a:r>
          </a:p>
          <a:p>
            <a:pPr>
              <a:lnSpc>
                <a:spcPct val="120000"/>
              </a:lnSpc>
              <a:spcBef>
                <a:spcPts val="400"/>
              </a:spcBef>
              <a:spcAft>
                <a:spcPts val="400"/>
              </a:spcAft>
            </a:pPr>
            <a:r>
              <a:rPr sz="1200" b="1">
                <a:solidFill>
                  <a:srgbClr val="D97706"/>
                </a:solidFill>
                <a:latin typeface="Arial"/>
              </a:rPr>
              <a:t>• Host Organization: </a:t>
            </a:r>
            <a:r>
              <a:rPr sz="1200">
                <a:solidFill>
                  <a:srgbClr val="F1F5F9"/>
                </a:solidFill>
                <a:latin typeface="Arial"/>
              </a:rPr>
              <a:t>Heartfelt thanks to KNW PRO Realtor (Private) Limited management, external supervisors, and engineering colleagues.</a:t>
            </a:r>
          </a:p>
          <a:p>
            <a:pPr>
              <a:lnSpc>
                <a:spcPct val="120000"/>
              </a:lnSpc>
              <a:spcBef>
                <a:spcPts val="400"/>
              </a:spcBef>
              <a:spcAft>
                <a:spcPts val="400"/>
              </a:spcAft>
            </a:pPr>
            <a:r>
              <a:rPr sz="1200" b="1">
                <a:solidFill>
                  <a:srgbClr val="D97706"/>
                </a:solidFill>
                <a:latin typeface="Arial"/>
              </a:rPr>
              <a:t>• Open for Questions: </a:t>
            </a:r>
            <a:r>
              <a:rPr sz="1200">
                <a:solidFill>
                  <a:srgbClr val="F1F5F9"/>
                </a:solidFill>
                <a:latin typeface="Arial"/>
              </a:rPr>
              <a:t>Thank you for your time, attention, and guidance. I welcome questions from the evaluation panel.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